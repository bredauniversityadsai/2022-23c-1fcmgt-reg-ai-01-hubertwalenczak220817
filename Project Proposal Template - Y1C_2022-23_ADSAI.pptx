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media/image9.png" ContentType="image/png"/>
  <Override PartName="/ppt/media/image14.png" ContentType="image/png"/>
  <Override PartName="/ppt/media/image10.png" ContentType="image/png"/>
  <Override PartName="/ppt/media/image2.jpeg" ContentType="image/jpeg"/>
  <Override PartName="/ppt/media/image3.jpeg" ContentType="image/jpeg"/>
  <Override PartName="/ppt/media/image4.jpeg" ContentType="image/jpeg"/>
  <Override PartName="/ppt/media/image5.jpeg" ContentType="image/jpeg"/>
  <Override PartName="/ppt/media/image6.png" ContentType="image/png"/>
  <Override PartName="/ppt/media/image11.png" ContentType="image/png"/>
  <Override PartName="/ppt/media/image1.jpeg" ContentType="image/jpeg"/>
  <Override PartName="/ppt/media/image7.png" ContentType="image/png"/>
  <Override PartName="/ppt/media/image12.png" ContentType="image/png"/>
  <Override PartName="/ppt/media/image8.png" ContentType="image/png"/>
  <Override PartName="/ppt/media/image13.png" ContentType="image/png"/>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_rels/slide16.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27.xml.rels" ContentType="application/vnd.openxmlformats-package.relationships+xml"/>
  <Override PartName="/ppt/slides/_rels/slide8.xml.rels" ContentType="application/vnd.openxmlformats-package.relationships+xml"/>
  <Override PartName="/ppt/slides/_rels/slide21.xml.rels" ContentType="application/vnd.openxmlformats-package.relationships+xml"/>
  <Override PartName="/ppt/slides/_rels/slide2.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_rels/slide23.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28.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slide30.xml" ContentType="application/vnd.openxmlformats-officedocument.presentationml.slide+xml"/>
  <Override PartName="/ppt/slides/slide28.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21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212"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213" name="PlaceHolder 4"/>
          <p:cNvSpPr>
            <a:spLocks noGrp="1"/>
          </p:cNvSpPr>
          <p:nvPr>
            <p:ph type="dt" idx="16"/>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214" name="PlaceHolder 5"/>
          <p:cNvSpPr>
            <a:spLocks noGrp="1"/>
          </p:cNvSpPr>
          <p:nvPr>
            <p:ph type="ftr" idx="17"/>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215" name="PlaceHolder 6"/>
          <p:cNvSpPr>
            <a:spLocks noGrp="1"/>
          </p:cNvSpPr>
          <p:nvPr>
            <p:ph type="sldNum" idx="18"/>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55972A1C-4297-4CBC-8D88-A464E7683FA1}"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685800" y="1143000"/>
            <a:ext cx="5485320" cy="3085200"/>
          </a:xfrm>
          <a:prstGeom prst="rect">
            <a:avLst/>
          </a:prstGeom>
          <a:ln w="0">
            <a:noFill/>
          </a:ln>
        </p:spPr>
      </p:sp>
      <p:sp>
        <p:nvSpPr>
          <p:cNvPr id="308" name="PlaceHolder 2"/>
          <p:cNvSpPr>
            <a:spLocks noGrp="1"/>
          </p:cNvSpPr>
          <p:nvPr>
            <p:ph type="body"/>
          </p:nvPr>
        </p:nvSpPr>
        <p:spPr>
          <a:xfrm>
            <a:off x="685800" y="4400640"/>
            <a:ext cx="5485320" cy="3599280"/>
          </a:xfrm>
          <a:prstGeom prst="rect">
            <a:avLst/>
          </a:prstGeom>
          <a:noFill/>
          <a:ln w="0">
            <a:noFill/>
          </a:ln>
        </p:spPr>
        <p:txBody>
          <a:bodyPr lIns="0" rIns="0" tIns="0" bIns="0" anchor="t">
            <a:noAutofit/>
          </a:bodyPr>
          <a:p>
            <a:endParaRPr b="0" lang="en-US" sz="2000" spc="-1" strike="noStrike">
              <a:latin typeface="Arial"/>
            </a:endParaRPr>
          </a:p>
        </p:txBody>
      </p:sp>
      <p:sp>
        <p:nvSpPr>
          <p:cNvPr id="309" name="PlaceHolder 3"/>
          <p:cNvSpPr>
            <a:spLocks noGrp="1"/>
          </p:cNvSpPr>
          <p:nvPr>
            <p:ph type="sldNum" idx="19"/>
          </p:nvPr>
        </p:nvSpPr>
        <p:spPr>
          <a:xfrm>
            <a:off x="3884760" y="8685360"/>
            <a:ext cx="2970720" cy="457560"/>
          </a:xfrm>
          <a:prstGeom prst="rect">
            <a:avLst/>
          </a:prstGeom>
          <a:noFill/>
          <a:ln w="0">
            <a:noFill/>
          </a:ln>
        </p:spPr>
        <p:txBody>
          <a:bodyPr lIns="0" rIns="0" tIns="0" bIns="0" anchor="b">
            <a:noAutofit/>
          </a:bodyPr>
          <a:lstStyle>
            <a:lvl1pPr algn="r">
              <a:lnSpc>
                <a:spcPct val="100000"/>
              </a:lnSpc>
              <a:buNone/>
              <a:defRPr b="0" lang="nl-NL" sz="1200" spc="-1" strike="noStrike">
                <a:latin typeface="Times New Roman"/>
              </a:defRPr>
            </a:lvl1pPr>
          </a:lstStyle>
          <a:p>
            <a:pPr algn="r">
              <a:lnSpc>
                <a:spcPct val="100000"/>
              </a:lnSpc>
              <a:buNone/>
            </a:pPr>
            <a:fld id="{61036AE8-5CC6-4798-B34E-8971408A2069}" type="slidenum">
              <a:rPr b="0" lang="nl-NL"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BB2AED5F-A671-475C-B171-05DB980285D6}"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C01B4B2-99B9-4397-9FF1-E24543F1072B}"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7FEED95-CFF8-4724-B48A-390F15B16F16}"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C8CFDACD-282E-4652-B87F-BCA40B13226B}"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B717E17A-6F06-4EB2-AC92-DEF0FFB691C9}"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057FC08E-4FD0-4973-A102-AD03C64A39A3}"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E800ADB-B6BD-4BB6-A04D-2ADAB7C390B9}"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FCE4A4D-B4E3-49E9-A3B8-D01745208662}"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764DD88-B2CE-4E1D-93FD-364523663C96}"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8F5DBE11-AA21-40EE-A23A-4832AF841F85}"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4F0B7134-37A1-448C-B435-397FEA4A5476}"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CEDA43F3-AD50-40DF-9343-F9D417624E9F}"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A8035956-9103-4FFD-B8CD-AE82B9B96858}"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9"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9DA0F256-2791-419F-BF22-829A5780689E}"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15B1D87-6314-4F63-81E0-D17EDDE4323E}"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4763E409-213C-4A67-81DB-ED7FE8C40497}"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C6960A5D-2F16-4148-9ADC-E355217E1676}"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DB7F98F2-2897-47E8-8ABB-79E40B138398}"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C40E2D40-620F-4D83-A2C2-B90447FFD59C}"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4"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DEE5E3A5-ED74-4CD9-8AE9-4CE713BF781C}"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8"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AB5603AD-062B-4DF8-BD92-17A64BEA9276}"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0"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9E2E49C1-CACC-45AB-AC47-BEAC210544EF}"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6"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9A8869A0-FCC2-4373-AF2D-7487BD17E23B}"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8"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2"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3"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65F41A3E-733E-4E2B-BFD1-E33A89050D46}"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3DE2D696-7761-4E9A-8A4A-D2C7DB21B8B2}"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77E1EEDD-F1EE-4C35-A95A-B42AE045130E}"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D7198BF1-F05F-405A-97C2-552D304A61C1}"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9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EC21D90E-3CC9-4101-928B-BDFD85AFEA8E}"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DF2D6355-1DF0-4744-AD07-8FA1D6BC1CC5}"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67E7F451-78B4-45A3-B00B-3E92A621F001}"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3D0F8BC8-42F0-4502-A21E-864908D2502C}"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6"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4C7AC480-AC9B-4D84-A9CC-985D5F258AFE}"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0"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D09569D6-BB69-4EC2-BC94-CB98F5AB19ED}"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2"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3"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9750ACB8-D87F-4895-905F-2D10664BD394}"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C54B08AB-0A61-48D6-844A-6AB6CAD2620B}" type="slidenum">
              <a:t>&lt;#&gt;</a:t>
            </a:fld>
          </a:p>
        </p:txBody>
      </p:sp>
      <p:sp>
        <p:nvSpPr>
          <p:cNvPr id="9" name="PlaceHolder 8"/>
          <p:cNvSpPr>
            <a:spLocks noGrp="1"/>
          </p:cNvSpPr>
          <p:nvPr>
            <p:ph type="dt" idx="9"/>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0"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1"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2"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3"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4"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5"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1806461C-DC3A-494A-976C-31A6E7F6A7D5}" type="slidenum">
              <a:t>&lt;#&gt;</a:t>
            </a:fld>
          </a:p>
        </p:txBody>
      </p:sp>
      <p:sp>
        <p:nvSpPr>
          <p:cNvPr id="11" name="PlaceHolder 10"/>
          <p:cNvSpPr>
            <a:spLocks noGrp="1"/>
          </p:cNvSpPr>
          <p:nvPr>
            <p:ph type="dt" idx="9"/>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8E0FB814-A838-4174-9F7C-07B9BF076867}"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EB1EFF48-4E24-4501-9FC6-589F5E0235AC}"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9C29B35-1D84-4236-BF1D-B038353CC17F}"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3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D5575EED-02F2-42FD-849D-3369F06ED2E6}"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B14B5F3E-2AF5-4CF3-A399-5F8B322074FB}"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591E3B8A-1B17-460E-B34A-9194FD44975C}"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4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4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40F099A6-9D2A-490D-AAB3-0D67D180EFD7}"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4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4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488C9389-FACF-4F56-9433-E4D3F38B724A}"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2AC6F9FB-ECB6-4617-B1EC-08EB67357BC5}"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3134CDAB-E32B-435B-8964-0D31FC1C8C3F}"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23FCA772-6881-4743-9147-A3182D266A4F}"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A3983B12-19C9-4393-A738-ADF48FD031D1}" type="slidenum">
              <a:t>&lt;#&gt;</a:t>
            </a:fld>
          </a:p>
        </p:txBody>
      </p:sp>
      <p:sp>
        <p:nvSpPr>
          <p:cNvPr id="11" name="PlaceHolder 10"/>
          <p:cNvSpPr>
            <a:spLocks noGrp="1"/>
          </p:cNvSpPr>
          <p:nvPr>
            <p:ph type="dt" idx="12"/>
          </p:nvPr>
        </p:nvSpPr>
        <p:spPr/>
        <p:txBody>
          <a:bodyPr/>
          <a:p>
            <a:r>
              <a:rPr lang="en-U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712E5FDE-F12E-4434-92F0-A31B978AB954}"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1783C0B1-49D9-467E-B23A-E1B8E5DFB24E}"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F213F849-A4B7-4A58-932F-675E24FCCDE4}"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8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E664FAA0-AB1B-466B-824B-9D097961A9FB}" type="slidenum">
              <a:t>&lt;#&gt;</a:t>
            </a:fld>
          </a:p>
        </p:txBody>
      </p:sp>
      <p:sp>
        <p:nvSpPr>
          <p:cNvPr id="7" name="PlaceHolder 6"/>
          <p:cNvSpPr>
            <a:spLocks noGrp="1"/>
          </p:cNvSpPr>
          <p:nvPr>
            <p:ph type="dt" idx="15"/>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15EF0E5B-A5E3-43C6-9F36-3896D852E631}"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8A1CA01B-4275-4DE1-A692-D8445404895D}"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8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8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8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3FFE713E-94A4-4FD2-94E9-B7E4D62D495A}" type="slidenum">
              <a:t>&lt;#&gt;</a:t>
            </a:fld>
          </a:p>
        </p:txBody>
      </p:sp>
      <p:sp>
        <p:nvSpPr>
          <p:cNvPr id="8" name="PlaceHolder 7"/>
          <p:cNvSpPr>
            <a:spLocks noGrp="1"/>
          </p:cNvSpPr>
          <p:nvPr>
            <p:ph type="dt" idx="15"/>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8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8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9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DD5427C9-C5D9-4DF5-A473-4AFB7E6E224C}" type="slidenum">
              <a:t>&lt;#&gt;</a:t>
            </a:fld>
          </a:p>
        </p:txBody>
      </p:sp>
      <p:sp>
        <p:nvSpPr>
          <p:cNvPr id="8" name="PlaceHolder 7"/>
          <p:cNvSpPr>
            <a:spLocks noGrp="1"/>
          </p:cNvSpPr>
          <p:nvPr>
            <p:ph type="dt" idx="15"/>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9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9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19F83B97-52EE-4AA5-A4B1-558567C5E717}" type="slidenum">
              <a:t>&lt;#&gt;</a:t>
            </a:fld>
          </a:p>
        </p:txBody>
      </p:sp>
      <p:sp>
        <p:nvSpPr>
          <p:cNvPr id="8" name="PlaceHolder 7"/>
          <p:cNvSpPr>
            <a:spLocks noGrp="1"/>
          </p:cNvSpPr>
          <p:nvPr>
            <p:ph type="dt" idx="15"/>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9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55A512DD-E598-45DE-A471-108691216AC9}" type="slidenum">
              <a:t>&lt;#&gt;</a:t>
            </a:fld>
          </a:p>
        </p:txBody>
      </p:sp>
      <p:sp>
        <p:nvSpPr>
          <p:cNvPr id="7" name="PlaceHolder 6"/>
          <p:cNvSpPr>
            <a:spLocks noGrp="1"/>
          </p:cNvSpPr>
          <p:nvPr>
            <p:ph type="dt" idx="15"/>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3"/>
          </p:nvPr>
        </p:nvSpPr>
        <p:spPr/>
        <p:txBody>
          <a:bodyPr/>
          <a:p>
            <a:r>
              <a:t>Footer</a:t>
            </a:r>
          </a:p>
        </p:txBody>
      </p:sp>
      <p:sp>
        <p:nvSpPr>
          <p:cNvPr id="8" name="PlaceHolder 7"/>
          <p:cNvSpPr>
            <a:spLocks noGrp="1"/>
          </p:cNvSpPr>
          <p:nvPr>
            <p:ph type="sldNum" idx="14"/>
          </p:nvPr>
        </p:nvSpPr>
        <p:spPr/>
        <p:txBody>
          <a:bodyPr/>
          <a:p>
            <a:fld id="{60E916F4-4D02-485F-A5D8-CE2256CCDDD7}" type="slidenum">
              <a:t>&lt;#&gt;</a:t>
            </a:fld>
          </a:p>
        </p:txBody>
      </p:sp>
      <p:sp>
        <p:nvSpPr>
          <p:cNvPr id="9" name="PlaceHolder 8"/>
          <p:cNvSpPr>
            <a:spLocks noGrp="1"/>
          </p:cNvSpPr>
          <p:nvPr>
            <p:ph type="dt" idx="15"/>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3"/>
          </p:nvPr>
        </p:nvSpPr>
        <p:spPr/>
        <p:txBody>
          <a:bodyPr/>
          <a:p>
            <a:r>
              <a:t>Footer</a:t>
            </a:r>
          </a:p>
        </p:txBody>
      </p:sp>
      <p:sp>
        <p:nvSpPr>
          <p:cNvPr id="10" name="PlaceHolder 9"/>
          <p:cNvSpPr>
            <a:spLocks noGrp="1"/>
          </p:cNvSpPr>
          <p:nvPr>
            <p:ph type="sldNum" idx="14"/>
          </p:nvPr>
        </p:nvSpPr>
        <p:spPr/>
        <p:txBody>
          <a:bodyPr/>
          <a:p>
            <a:fld id="{D9F46A4D-47F7-4206-A0F5-BDCCD683822D}" type="slidenum">
              <a:t>&lt;#&gt;</a:t>
            </a:fld>
          </a:p>
        </p:txBody>
      </p:sp>
      <p:sp>
        <p:nvSpPr>
          <p:cNvPr id="11" name="PlaceHolder 10"/>
          <p:cNvSpPr>
            <a:spLocks noGrp="1"/>
          </p:cNvSpPr>
          <p:nvPr>
            <p:ph type="dt" idx="1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jpe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jpe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4.jpe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5.jpe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Titel 1"/>
          <p:cNvSpPr/>
          <p:nvPr/>
        </p:nvSpPr>
        <p:spPr>
          <a:xfrm>
            <a:off x="2143440" y="3790080"/>
            <a:ext cx="8587440" cy="1387800"/>
          </a:xfrm>
          <a:prstGeom prst="rect">
            <a:avLst/>
          </a:prstGeom>
          <a:noFill/>
          <a:ln w="0">
            <a:noFill/>
          </a:ln>
        </p:spPr>
        <p:style>
          <a:lnRef idx="0"/>
          <a:fillRef idx="0"/>
          <a:effectRef idx="0"/>
          <a:fontRef idx="minor"/>
        </p:style>
      </p:sp>
      <p:sp>
        <p:nvSpPr>
          <p:cNvPr id="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
        <p:nvSpPr>
          <p:cNvPr id="3" name="PlaceHolder 3"/>
          <p:cNvSpPr>
            <a:spLocks noGrp="1"/>
          </p:cNvSpPr>
          <p:nvPr>
            <p:ph type="ftr" idx="1"/>
          </p:nvPr>
        </p:nvSpPr>
        <p:spPr>
          <a:xfrm>
            <a:off x="6011280" y="6356520"/>
            <a:ext cx="337716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r>
              <a:rPr b="0" lang="nl-NL" sz="1200" spc="-1" strike="noStrike">
                <a:solidFill>
                  <a:srgbClr val="ffffff"/>
                </a:solidFill>
                <a:latin typeface="Open Sans"/>
              </a:rPr>
              <a:t>&lt;footer&gt;</a:t>
            </a:r>
            <a:endParaRPr b="0" lang="en-US" sz="1200" spc="-1" strike="noStrike">
              <a:latin typeface="Times New Roman"/>
            </a:endParaRPr>
          </a:p>
        </p:txBody>
      </p:sp>
      <p:sp>
        <p:nvSpPr>
          <p:cNvPr id="4" name="PlaceHolder 4"/>
          <p:cNvSpPr>
            <a:spLocks noGrp="1"/>
          </p:cNvSpPr>
          <p:nvPr>
            <p:ph type="sldNum" idx="2"/>
          </p:nvPr>
        </p:nvSpPr>
        <p:spPr>
          <a:xfrm>
            <a:off x="592200" y="6356520"/>
            <a:ext cx="60912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fld id="{CF4E08FB-DF3F-43E7-A5CF-62A78F0CA1D4}" type="slidenum">
              <a:rPr b="0" lang="nl-NL" sz="1200" spc="-1" strike="noStrike">
                <a:solidFill>
                  <a:srgbClr val="ffffff"/>
                </a:solidFill>
                <a:latin typeface="Open Sans"/>
              </a:rPr>
              <a:t>&lt;number&gt;</a:t>
            </a:fld>
            <a:endParaRPr b="0" lang="en-US" sz="1200" spc="-1" strike="noStrike">
              <a:latin typeface="Times New Roman"/>
            </a:endParaRPr>
          </a:p>
        </p:txBody>
      </p:sp>
      <p:sp>
        <p:nvSpPr>
          <p:cNvPr id="5" name="PlaceHolder 5"/>
          <p:cNvSpPr>
            <a:spLocks noGrp="1"/>
          </p:cNvSpPr>
          <p:nvPr>
            <p:ph type="dt" idx="3"/>
          </p:nvPr>
        </p:nvSpPr>
        <p:spPr>
          <a:xfrm>
            <a:off x="1642680" y="6356520"/>
            <a:ext cx="236952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2" name="Titel 1"/>
          <p:cNvSpPr/>
          <p:nvPr/>
        </p:nvSpPr>
        <p:spPr>
          <a:xfrm>
            <a:off x="2143440" y="3790080"/>
            <a:ext cx="8587440" cy="1387800"/>
          </a:xfrm>
          <a:prstGeom prst="rect">
            <a:avLst/>
          </a:prstGeom>
          <a:noFill/>
          <a:ln w="0">
            <a:noFill/>
          </a:ln>
        </p:spPr>
        <p:style>
          <a:lnRef idx="0"/>
          <a:fillRef idx="0"/>
          <a:effectRef idx="0"/>
          <a:fontRef idx="minor"/>
        </p:style>
      </p:sp>
      <p:sp>
        <p:nvSpPr>
          <p:cNvPr id="43" name="PlaceHolder 1"/>
          <p:cNvSpPr>
            <a:spLocks noGrp="1"/>
          </p:cNvSpPr>
          <p:nvPr>
            <p:ph type="ftr" idx="4"/>
          </p:nvPr>
        </p:nvSpPr>
        <p:spPr>
          <a:xfrm>
            <a:off x="6011280" y="6356520"/>
            <a:ext cx="337716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r>
              <a:rPr b="0" lang="nl-NL" sz="1200" spc="-1" strike="noStrike">
                <a:solidFill>
                  <a:srgbClr val="ffffff"/>
                </a:solidFill>
                <a:latin typeface="Open Sans"/>
              </a:rPr>
              <a:t>&lt;footer&gt;</a:t>
            </a:r>
            <a:endParaRPr b="0" lang="en-US" sz="1200" spc="-1" strike="noStrike">
              <a:latin typeface="Times New Roman"/>
            </a:endParaRPr>
          </a:p>
        </p:txBody>
      </p:sp>
      <p:sp>
        <p:nvSpPr>
          <p:cNvPr id="44" name="PlaceHolder 2"/>
          <p:cNvSpPr>
            <a:spLocks noGrp="1"/>
          </p:cNvSpPr>
          <p:nvPr>
            <p:ph type="sldNum" idx="5"/>
          </p:nvPr>
        </p:nvSpPr>
        <p:spPr>
          <a:xfrm>
            <a:off x="592200" y="6356520"/>
            <a:ext cx="60912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fld id="{6F3DA5A9-6D38-4767-8BEB-94D5504DCCC4}" type="slidenum">
              <a:rPr b="0" lang="nl-NL" sz="1200" spc="-1" strike="noStrike">
                <a:solidFill>
                  <a:srgbClr val="ffffff"/>
                </a:solidFill>
                <a:latin typeface="Open Sans"/>
              </a:rPr>
              <a:t>&lt;number&gt;</a:t>
            </a:fld>
            <a:endParaRPr b="0" lang="en-US" sz="1200" spc="-1" strike="noStrike">
              <a:latin typeface="Times New Roman"/>
            </a:endParaRPr>
          </a:p>
        </p:txBody>
      </p:sp>
      <p:sp>
        <p:nvSpPr>
          <p:cNvPr id="45" name="PlaceHolder 3"/>
          <p:cNvSpPr>
            <a:spLocks noGrp="1"/>
          </p:cNvSpPr>
          <p:nvPr>
            <p:ph type="dt" idx="6"/>
          </p:nvPr>
        </p:nvSpPr>
        <p:spPr>
          <a:xfrm>
            <a:off x="1642680" y="6356520"/>
            <a:ext cx="236952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46"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a:t>
            </a:r>
            <a:r>
              <a:rPr b="0" lang="en-US" sz="4400" spc="-1" strike="noStrike">
                <a:latin typeface="Arial"/>
              </a:rPr>
              <a:t>edit the </a:t>
            </a:r>
            <a:r>
              <a:rPr b="0" lang="en-US" sz="4400" spc="-1" strike="noStrike">
                <a:latin typeface="Arial"/>
              </a:rPr>
              <a:t>title text </a:t>
            </a:r>
            <a:r>
              <a:rPr b="0" lang="en-US" sz="4400" spc="-1" strike="noStrike">
                <a:latin typeface="Arial"/>
              </a:rPr>
              <a:t>format</a:t>
            </a:r>
            <a:endParaRPr b="0" lang="en-US" sz="4400" spc="-1" strike="noStrike">
              <a:latin typeface="Arial"/>
            </a:endParaRPr>
          </a:p>
        </p:txBody>
      </p:sp>
      <p:sp>
        <p:nvSpPr>
          <p:cNvPr id="4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4" name="Titel 1"/>
          <p:cNvSpPr/>
          <p:nvPr/>
        </p:nvSpPr>
        <p:spPr>
          <a:xfrm>
            <a:off x="2143440" y="3790080"/>
            <a:ext cx="8587440" cy="1387800"/>
          </a:xfrm>
          <a:prstGeom prst="rect">
            <a:avLst/>
          </a:prstGeom>
          <a:noFill/>
          <a:ln w="0">
            <a:noFill/>
          </a:ln>
        </p:spPr>
        <p:style>
          <a:lnRef idx="0"/>
          <a:fillRef idx="0"/>
          <a:effectRef idx="0"/>
          <a:fontRef idx="minor"/>
        </p:style>
      </p:sp>
      <p:sp>
        <p:nvSpPr>
          <p:cNvPr id="85" name="PlaceHolder 1"/>
          <p:cNvSpPr>
            <a:spLocks noGrp="1"/>
          </p:cNvSpPr>
          <p:nvPr>
            <p:ph type="ftr" idx="7"/>
          </p:nvPr>
        </p:nvSpPr>
        <p:spPr>
          <a:xfrm>
            <a:off x="6011280" y="6356520"/>
            <a:ext cx="337716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r>
              <a:rPr b="0" lang="nl-NL" sz="1200" spc="-1" strike="noStrike">
                <a:solidFill>
                  <a:srgbClr val="ffffff"/>
                </a:solidFill>
                <a:latin typeface="Open Sans"/>
              </a:rPr>
              <a:t>&lt;footer&gt;</a:t>
            </a:r>
            <a:endParaRPr b="0" lang="en-US" sz="1200" spc="-1" strike="noStrike">
              <a:latin typeface="Times New Roman"/>
            </a:endParaRPr>
          </a:p>
        </p:txBody>
      </p:sp>
      <p:sp>
        <p:nvSpPr>
          <p:cNvPr id="86" name="PlaceHolder 2"/>
          <p:cNvSpPr>
            <a:spLocks noGrp="1"/>
          </p:cNvSpPr>
          <p:nvPr>
            <p:ph type="sldNum" idx="8"/>
          </p:nvPr>
        </p:nvSpPr>
        <p:spPr>
          <a:xfrm>
            <a:off x="592200" y="6356520"/>
            <a:ext cx="60912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fld id="{3F3F0249-57F3-49EA-8C69-C53E681FBB9C}" type="slidenum">
              <a:rPr b="0" lang="nl-NL" sz="1200" spc="-1" strike="noStrike">
                <a:solidFill>
                  <a:srgbClr val="ffffff"/>
                </a:solidFill>
                <a:latin typeface="Open Sans"/>
              </a:rPr>
              <a:t>&lt;number&gt;</a:t>
            </a:fld>
            <a:endParaRPr b="0" lang="en-US" sz="1200" spc="-1" strike="noStrike">
              <a:latin typeface="Times New Roman"/>
            </a:endParaRPr>
          </a:p>
        </p:txBody>
      </p:sp>
      <p:sp>
        <p:nvSpPr>
          <p:cNvPr id="87" name="PlaceHolder 3"/>
          <p:cNvSpPr>
            <a:spLocks noGrp="1"/>
          </p:cNvSpPr>
          <p:nvPr>
            <p:ph type="dt" idx="9"/>
          </p:nvPr>
        </p:nvSpPr>
        <p:spPr>
          <a:xfrm>
            <a:off x="1642680" y="6356520"/>
            <a:ext cx="236952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8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8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26" name="Titel 1"/>
          <p:cNvSpPr/>
          <p:nvPr/>
        </p:nvSpPr>
        <p:spPr>
          <a:xfrm>
            <a:off x="2143440" y="3790080"/>
            <a:ext cx="8587440" cy="1387800"/>
          </a:xfrm>
          <a:prstGeom prst="rect">
            <a:avLst/>
          </a:prstGeom>
          <a:noFill/>
          <a:ln w="0">
            <a:noFill/>
          </a:ln>
        </p:spPr>
        <p:style>
          <a:lnRef idx="0"/>
          <a:fillRef idx="0"/>
          <a:effectRef idx="0"/>
          <a:fontRef idx="minor"/>
        </p:style>
      </p:sp>
      <p:sp>
        <p:nvSpPr>
          <p:cNvPr id="127" name="PlaceHolder 1"/>
          <p:cNvSpPr>
            <a:spLocks noGrp="1"/>
          </p:cNvSpPr>
          <p:nvPr>
            <p:ph type="ftr" idx="10"/>
          </p:nvPr>
        </p:nvSpPr>
        <p:spPr>
          <a:xfrm>
            <a:off x="6011280" y="6356520"/>
            <a:ext cx="337716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r>
              <a:rPr b="0" lang="nl-NL" sz="1200" spc="-1" strike="noStrike">
                <a:solidFill>
                  <a:srgbClr val="ffffff"/>
                </a:solidFill>
                <a:latin typeface="Open Sans"/>
              </a:rPr>
              <a:t>&lt;footer&gt;</a:t>
            </a:r>
            <a:endParaRPr b="0" lang="en-US" sz="1200" spc="-1" strike="noStrike">
              <a:latin typeface="Times New Roman"/>
            </a:endParaRPr>
          </a:p>
        </p:txBody>
      </p:sp>
      <p:sp>
        <p:nvSpPr>
          <p:cNvPr id="128" name="PlaceHolder 2"/>
          <p:cNvSpPr>
            <a:spLocks noGrp="1"/>
          </p:cNvSpPr>
          <p:nvPr>
            <p:ph type="sldNum" idx="11"/>
          </p:nvPr>
        </p:nvSpPr>
        <p:spPr>
          <a:xfrm>
            <a:off x="592200" y="6356520"/>
            <a:ext cx="60912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fld id="{A8790355-8E8E-4B92-B750-3021C677CEC8}" type="slidenum">
              <a:rPr b="0" lang="nl-NL" sz="1200" spc="-1" strike="noStrike">
                <a:solidFill>
                  <a:srgbClr val="ffffff"/>
                </a:solidFill>
                <a:latin typeface="Open Sans"/>
              </a:rPr>
              <a:t>&lt;number&gt;</a:t>
            </a:fld>
            <a:endParaRPr b="0" lang="en-US" sz="1200" spc="-1" strike="noStrike">
              <a:latin typeface="Times New Roman"/>
            </a:endParaRPr>
          </a:p>
        </p:txBody>
      </p:sp>
      <p:sp>
        <p:nvSpPr>
          <p:cNvPr id="129" name="PlaceHolder 3"/>
          <p:cNvSpPr>
            <a:spLocks noGrp="1"/>
          </p:cNvSpPr>
          <p:nvPr>
            <p:ph type="dt" idx="12"/>
          </p:nvPr>
        </p:nvSpPr>
        <p:spPr>
          <a:xfrm>
            <a:off x="1642680" y="6356520"/>
            <a:ext cx="236952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130"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13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68" name="Titel 1"/>
          <p:cNvSpPr/>
          <p:nvPr/>
        </p:nvSpPr>
        <p:spPr>
          <a:xfrm>
            <a:off x="2143440" y="3790080"/>
            <a:ext cx="8587440" cy="1387800"/>
          </a:xfrm>
          <a:prstGeom prst="rect">
            <a:avLst/>
          </a:prstGeom>
          <a:noFill/>
          <a:ln w="0">
            <a:noFill/>
          </a:ln>
        </p:spPr>
        <p:style>
          <a:lnRef idx="0"/>
          <a:fillRef idx="0"/>
          <a:effectRef idx="0"/>
          <a:fontRef idx="minor"/>
        </p:style>
      </p:sp>
      <p:sp>
        <p:nvSpPr>
          <p:cNvPr id="169" name="PlaceHolder 1"/>
          <p:cNvSpPr>
            <a:spLocks noGrp="1"/>
          </p:cNvSpPr>
          <p:nvPr>
            <p:ph type="ftr" idx="13"/>
          </p:nvPr>
        </p:nvSpPr>
        <p:spPr>
          <a:xfrm>
            <a:off x="6011280" y="6356520"/>
            <a:ext cx="337716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r>
              <a:rPr b="0" lang="nl-NL" sz="1200" spc="-1" strike="noStrike">
                <a:solidFill>
                  <a:srgbClr val="ffffff"/>
                </a:solidFill>
                <a:latin typeface="Open Sans"/>
              </a:rPr>
              <a:t>&lt;footer&gt;</a:t>
            </a:r>
            <a:endParaRPr b="0" lang="en-US" sz="1200" spc="-1" strike="noStrike">
              <a:latin typeface="Times New Roman"/>
            </a:endParaRPr>
          </a:p>
        </p:txBody>
      </p:sp>
      <p:sp>
        <p:nvSpPr>
          <p:cNvPr id="170" name="PlaceHolder 2"/>
          <p:cNvSpPr>
            <a:spLocks noGrp="1"/>
          </p:cNvSpPr>
          <p:nvPr>
            <p:ph type="sldNum" idx="14"/>
          </p:nvPr>
        </p:nvSpPr>
        <p:spPr>
          <a:xfrm>
            <a:off x="592200" y="6356520"/>
            <a:ext cx="609120" cy="363960"/>
          </a:xfrm>
          <a:prstGeom prst="rect">
            <a:avLst/>
          </a:prstGeom>
          <a:noFill/>
          <a:ln w="0">
            <a:noFill/>
          </a:ln>
        </p:spPr>
        <p:txBody>
          <a:bodyPr lIns="90000" rIns="90000" tIns="45000" bIns="45000" anchor="ctr">
            <a:noAutofit/>
          </a:bodyPr>
          <a:lstStyle>
            <a:lvl1pPr>
              <a:lnSpc>
                <a:spcPct val="100000"/>
              </a:lnSpc>
              <a:buNone/>
              <a:defRPr b="0" lang="nl-NL" sz="1200" spc="-1" strike="noStrike">
                <a:solidFill>
                  <a:srgbClr val="ffffff"/>
                </a:solidFill>
                <a:latin typeface="Open Sans"/>
              </a:defRPr>
            </a:lvl1pPr>
          </a:lstStyle>
          <a:p>
            <a:pPr>
              <a:lnSpc>
                <a:spcPct val="100000"/>
              </a:lnSpc>
              <a:buNone/>
            </a:pPr>
            <a:fld id="{7CCDC22D-B215-400A-92A3-BDDD608000D1}" type="slidenum">
              <a:rPr b="0" lang="nl-NL" sz="1200" spc="-1" strike="noStrike">
                <a:solidFill>
                  <a:srgbClr val="ffffff"/>
                </a:solidFill>
                <a:latin typeface="Open Sans"/>
              </a:rPr>
              <a:t>&lt;number&gt;</a:t>
            </a:fld>
            <a:endParaRPr b="0" lang="en-US" sz="1200" spc="-1" strike="noStrike">
              <a:latin typeface="Times New Roman"/>
            </a:endParaRPr>
          </a:p>
        </p:txBody>
      </p:sp>
      <p:sp>
        <p:nvSpPr>
          <p:cNvPr id="171" name="PlaceHolder 3"/>
          <p:cNvSpPr>
            <a:spLocks noGrp="1"/>
          </p:cNvSpPr>
          <p:nvPr>
            <p:ph type="dt" idx="15"/>
          </p:nvPr>
        </p:nvSpPr>
        <p:spPr>
          <a:xfrm>
            <a:off x="1642680" y="6356520"/>
            <a:ext cx="2369520" cy="36396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17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17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hyperlink" Target="https://viso.ai/applications/computer-vision-in-agriculture/" TargetMode="External"/><Relationship Id="rId2" Type="http://schemas.openxmlformats.org/officeDocument/2006/relationships/hyperlink" Target="https://www.researchgate.net/publication/344387269_Wild_Animals_Intrusion_Detection_using_Deep_Learning_Techniques" TargetMode="External"/><Relationship Id="rId3" Type="http://schemas.openxmlformats.org/officeDocument/2006/relationships/hyperlink" Target="https://towardsdatascience.com/detecting-animals-in-the-backyard-practical-application-of-deep-learning-c030d3263ba8" TargetMode="External"/><Relationship Id="rId4" Type="http://schemas.openxmlformats.org/officeDocument/2006/relationships/hyperlink" Target="https://solarpowernerd.com/solar-powered-animal-repeller/" TargetMode="External"/><Relationship Id="rId5" Type="http://schemas.openxmlformats.org/officeDocument/2006/relationships/hyperlink" Target="https://www.amazon.com/dp/B003USMX7M?tag=solarpowernerd-20&amp;linkCode=ogi&amp;th=1&amp;psc=1" TargetMode="External"/><Relationship Id="rId6" Type="http://schemas.openxmlformats.org/officeDocument/2006/relationships/hyperlink" Target="https://www.amazon.com/dp/B00E51X8Q8?tag=solarpowernerd-20&amp;linkCode=ogi&amp;th=1" TargetMode="External"/><Relationship Id="rId7"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37.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p:nvPr>
        </p:nvSpPr>
        <p:spPr>
          <a:xfrm>
            <a:off x="1727280" y="5088600"/>
            <a:ext cx="9371520" cy="981000"/>
          </a:xfrm>
          <a:prstGeom prst="rect">
            <a:avLst/>
          </a:prstGeom>
          <a:solidFill>
            <a:srgbClr val="ffffff"/>
          </a:solidFill>
          <a:ln w="0">
            <a:noFill/>
          </a:ln>
        </p:spPr>
        <p:txBody>
          <a:bodyPr lIns="468000" rIns="468000" tIns="108000" bIns="360000" anchor="t">
            <a:noAutofit/>
          </a:bodyPr>
          <a:p>
            <a:pPr>
              <a:lnSpc>
                <a:spcPct val="90000"/>
              </a:lnSpc>
              <a:spcBef>
                <a:spcPts val="1001"/>
              </a:spcBef>
              <a:buNone/>
              <a:tabLst>
                <a:tab algn="l" pos="0"/>
              </a:tabLst>
            </a:pPr>
            <a:r>
              <a:rPr b="0" lang="nl-NL" sz="2500" spc="-1" strike="noStrike">
                <a:solidFill>
                  <a:srgbClr val="0e3d67"/>
                </a:solidFill>
                <a:latin typeface="Open Sans"/>
                <a:ea typeface="Open Sans"/>
              </a:rPr>
              <a:t>Hubert Waleńczak</a:t>
            </a:r>
            <a:endParaRPr b="0" lang="en-US" sz="2500" spc="-1" strike="noStrike">
              <a:latin typeface="Arial"/>
            </a:endParaRPr>
          </a:p>
          <a:p>
            <a:pPr>
              <a:lnSpc>
                <a:spcPct val="90000"/>
              </a:lnSpc>
              <a:spcBef>
                <a:spcPts val="1001"/>
              </a:spcBef>
              <a:buNone/>
              <a:tabLst>
                <a:tab algn="l" pos="0"/>
              </a:tabLst>
            </a:pPr>
            <a:r>
              <a:rPr b="0" lang="nl-NL" sz="2500" spc="-1" strike="noStrike">
                <a:solidFill>
                  <a:srgbClr val="0e3d67"/>
                </a:solidFill>
                <a:latin typeface="Open Sans"/>
                <a:ea typeface="Open Sans"/>
              </a:rPr>
              <a:t>220817</a:t>
            </a:r>
            <a:endParaRPr b="0" lang="en-US" sz="2500" spc="-1" strike="noStrike">
              <a:latin typeface="Arial"/>
            </a:endParaRPr>
          </a:p>
        </p:txBody>
      </p:sp>
      <p:sp>
        <p:nvSpPr>
          <p:cNvPr id="217" name="PlaceHolder 2"/>
          <p:cNvSpPr>
            <a:spLocks noGrp="1"/>
          </p:cNvSpPr>
          <p:nvPr>
            <p:ph type="title"/>
          </p:nvPr>
        </p:nvSpPr>
        <p:spPr>
          <a:xfrm>
            <a:off x="1727280" y="3564360"/>
            <a:ext cx="9371520" cy="1522800"/>
          </a:xfrm>
          <a:prstGeom prst="rect">
            <a:avLst/>
          </a:prstGeom>
          <a:solidFill>
            <a:srgbClr val="ffffff"/>
          </a:solidFill>
          <a:ln w="0">
            <a:noFill/>
          </a:ln>
        </p:spPr>
        <p:txBody>
          <a:bodyPr lIns="468000" rIns="468000" tIns="288000" bIns="0" anchor="t">
            <a:noAutofit/>
          </a:bodyPr>
          <a:p>
            <a:pPr>
              <a:lnSpc>
                <a:spcPct val="90000"/>
              </a:lnSpc>
              <a:buNone/>
            </a:pPr>
            <a:r>
              <a:rPr b="0" lang="en-NL" sz="4400" spc="-1" strike="noStrike">
                <a:solidFill>
                  <a:srgbClr val="0e3d67"/>
                </a:solidFill>
                <a:latin typeface="Open Sans Semibold"/>
                <a:ea typeface="Open Sans Semibold"/>
              </a:rPr>
              <a:t>Project Proposal</a:t>
            </a:r>
            <a:r>
              <a:rPr b="0" lang="en-US" sz="4400" spc="-1" strike="noStrike">
                <a:solidFill>
                  <a:srgbClr val="0e3d67"/>
                </a:solidFill>
                <a:latin typeface="Open Sans Semibold"/>
                <a:ea typeface="Open Sans Semibold"/>
              </a:rPr>
              <a:t>: Animal Detection Hyper Device</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p:nvPr>
        </p:nvSpPr>
        <p:spPr>
          <a:xfrm>
            <a:off x="537840" y="1471320"/>
            <a:ext cx="11143800" cy="4154040"/>
          </a:xfrm>
          <a:prstGeom prst="rect">
            <a:avLst/>
          </a:prstGeom>
          <a:noFill/>
          <a:ln w="0">
            <a:noFill/>
          </a:ln>
        </p:spPr>
        <p:txBody>
          <a:bodyPr lIns="90000" rIns="90000" tIns="45000" bIns="45000" anchor="t">
            <a:noAutofit/>
          </a:bodyPr>
          <a:p>
            <a:pPr marL="199080" indent="-199080">
              <a:lnSpc>
                <a:spcPct val="90000"/>
              </a:lnSpc>
              <a:spcBef>
                <a:spcPts val="1001"/>
              </a:spcBef>
              <a:buClr>
                <a:srgbClr val="ee731a"/>
              </a:buClr>
              <a:buFont typeface="Arial"/>
              <a:buChar char="•"/>
            </a:pPr>
            <a:r>
              <a:rPr b="0" lang="en-GB" sz="2100" spc="-1" strike="noStrike">
                <a:solidFill>
                  <a:srgbClr val="000000"/>
                </a:solidFill>
                <a:latin typeface="Open Sans"/>
              </a:rPr>
              <a:t>Value Proposition: What computer vision application will you make and why is it’s added value?</a:t>
            </a:r>
            <a:endParaRPr b="0" lang="en-US" sz="2100" spc="-1" strike="noStrike">
              <a:latin typeface="Arial"/>
            </a:endParaRPr>
          </a:p>
          <a:p>
            <a:pPr marL="199080" indent="-199080">
              <a:lnSpc>
                <a:spcPct val="90000"/>
              </a:lnSpc>
              <a:spcBef>
                <a:spcPts val="1001"/>
              </a:spcBef>
              <a:buClr>
                <a:srgbClr val="ee731a"/>
              </a:buClr>
              <a:buFont typeface="Arial"/>
              <a:buChar char="•"/>
            </a:pPr>
            <a:r>
              <a:rPr b="0" lang="en-GB" sz="2100" spc="-1" strike="noStrike">
                <a:solidFill>
                  <a:srgbClr val="000000"/>
                </a:solidFill>
                <a:latin typeface="Open Sans"/>
              </a:rPr>
              <a:t>Proof-of-Concept: How will my Computer Vision Algorithm work?</a:t>
            </a:r>
            <a:endParaRPr b="0" lang="en-US" sz="2100" spc="-1" strike="noStrike">
              <a:latin typeface="Arial"/>
            </a:endParaRPr>
          </a:p>
          <a:p>
            <a:pPr marL="199080" indent="-199080">
              <a:lnSpc>
                <a:spcPct val="90000"/>
              </a:lnSpc>
              <a:spcBef>
                <a:spcPts val="1001"/>
              </a:spcBef>
              <a:buClr>
                <a:srgbClr val="ee731a"/>
              </a:buClr>
              <a:buFont typeface="Arial"/>
              <a:buChar char="•"/>
            </a:pPr>
            <a:r>
              <a:rPr b="0" lang="en-GB" sz="2100" spc="-1" strike="noStrike">
                <a:solidFill>
                  <a:srgbClr val="000000"/>
                </a:solidFill>
                <a:latin typeface="Open Sans"/>
              </a:rPr>
              <a:t>Explainable AI: How does my AI work?</a:t>
            </a:r>
            <a:endParaRPr b="0" lang="en-US" sz="2100" spc="-1" strike="noStrike">
              <a:latin typeface="Arial"/>
            </a:endParaRPr>
          </a:p>
          <a:p>
            <a:pPr marL="199080" indent="-199080">
              <a:lnSpc>
                <a:spcPct val="90000"/>
              </a:lnSpc>
              <a:spcBef>
                <a:spcPts val="1001"/>
              </a:spcBef>
              <a:buClr>
                <a:srgbClr val="ee731a"/>
              </a:buClr>
              <a:buFont typeface="Arial"/>
              <a:buChar char="•"/>
            </a:pPr>
            <a:r>
              <a:rPr b="0" lang="en-GB" sz="2100" spc="-1" strike="noStrike">
                <a:solidFill>
                  <a:srgbClr val="000000"/>
                </a:solidFill>
                <a:latin typeface="Open Sans"/>
              </a:rPr>
              <a:t>Responsible AI: Why is my AI ethical?</a:t>
            </a:r>
            <a:endParaRPr b="0" lang="en-US" sz="2100" spc="-1" strike="noStrike">
              <a:latin typeface="Arial"/>
            </a:endParaRPr>
          </a:p>
          <a:p>
            <a:pPr marL="199080" indent="-199080">
              <a:lnSpc>
                <a:spcPct val="90000"/>
              </a:lnSpc>
              <a:spcBef>
                <a:spcPts val="1001"/>
              </a:spcBef>
              <a:buClr>
                <a:srgbClr val="ee731a"/>
              </a:buClr>
              <a:buFont typeface="Arial"/>
              <a:buChar char="•"/>
            </a:pPr>
            <a:r>
              <a:rPr b="0" lang="en-GB" sz="2100" spc="-1" strike="noStrike">
                <a:solidFill>
                  <a:srgbClr val="000000"/>
                </a:solidFill>
                <a:latin typeface="Open Sans"/>
              </a:rPr>
              <a:t>Disruptive Technology risks: What disruptive technology risks am I facing?</a:t>
            </a:r>
            <a:endParaRPr b="0" lang="en-US" sz="2100" spc="-1" strike="noStrike">
              <a:latin typeface="Arial"/>
            </a:endParaRPr>
          </a:p>
          <a:p>
            <a:pPr marL="199080" indent="-199080">
              <a:lnSpc>
                <a:spcPct val="90000"/>
              </a:lnSpc>
              <a:spcBef>
                <a:spcPts val="1001"/>
              </a:spcBef>
              <a:buClr>
                <a:srgbClr val="ee731a"/>
              </a:buClr>
              <a:buFont typeface="Arial"/>
              <a:buChar char="•"/>
            </a:pPr>
            <a:r>
              <a:rPr b="0" lang="en-GB" sz="2100" spc="-1" strike="noStrike">
                <a:solidFill>
                  <a:srgbClr val="000000"/>
                </a:solidFill>
                <a:latin typeface="Open Sans"/>
              </a:rPr>
              <a:t>Application Design: How will my computer vision application work? </a:t>
            </a:r>
            <a:endParaRPr b="0" lang="en-US" sz="2100" spc="-1" strike="noStrike">
              <a:latin typeface="Arial"/>
            </a:endParaRPr>
          </a:p>
          <a:p>
            <a:pPr>
              <a:lnSpc>
                <a:spcPct val="90000"/>
              </a:lnSpc>
              <a:spcBef>
                <a:spcPts val="1001"/>
              </a:spcBef>
              <a:buNone/>
            </a:pPr>
            <a:endParaRPr b="0" lang="en-US" sz="2100" spc="-1" strike="noStrike">
              <a:latin typeface="Arial"/>
            </a:endParaRPr>
          </a:p>
          <a:p>
            <a:pPr>
              <a:lnSpc>
                <a:spcPct val="90000"/>
              </a:lnSpc>
              <a:spcBef>
                <a:spcPts val="1001"/>
              </a:spcBef>
              <a:buNone/>
              <a:tabLst>
                <a:tab algn="l" pos="0"/>
              </a:tabLst>
            </a:pPr>
            <a:r>
              <a:rPr b="1" lang="en-GB" sz="2800" spc="-1" strike="noStrike">
                <a:solidFill>
                  <a:srgbClr val="000000"/>
                </a:solidFill>
                <a:latin typeface="Open Sans"/>
              </a:rPr>
              <a:t>[Delete this slide before final submission]</a:t>
            </a:r>
            <a:endParaRPr b="0" lang="en-US" sz="2800" spc="-1" strike="noStrike">
              <a:latin typeface="Arial"/>
            </a:endParaRPr>
          </a:p>
        </p:txBody>
      </p:sp>
      <p:sp>
        <p:nvSpPr>
          <p:cNvPr id="219" name="PlaceHolder 2"/>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US" sz="4400" spc="-1" strike="noStrike">
                <a:solidFill>
                  <a:srgbClr val="0e3d67"/>
                </a:solidFill>
                <a:latin typeface="Open Sans Semibold"/>
              </a:rPr>
              <a:t>Ordered T</a:t>
            </a:r>
            <a:r>
              <a:rPr b="0" lang="en-NL" sz="4400" spc="-1" strike="noStrike">
                <a:solidFill>
                  <a:srgbClr val="0e3d67"/>
                </a:solidFill>
                <a:latin typeface="Open Sans Semibold"/>
              </a:rPr>
              <a:t>able of Contents</a:t>
            </a:r>
            <a:endParaRPr b="0" lang="en-US" sz="4400" spc="-1" strike="noStrike">
              <a:latin typeface="Arial"/>
            </a:endParaRPr>
          </a:p>
        </p:txBody>
      </p:sp>
      <p:sp>
        <p:nvSpPr>
          <p:cNvPr id="4" name="PlaceHolder 3"/>
          <p:cNvSpPr>
            <a:spLocks noGrp="1"/>
          </p:cNvSpPr>
          <p:nvPr>
            <p:ph type="sldNum" idx="5"/>
          </p:nvPr>
        </p:nvSpPr>
        <p:spPr/>
        <p:txBody>
          <a:bodyPr/>
          <a:p>
            <a:fld id="{4ABF7FE0-CB86-49AD-A2C6-035249CA4920}"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p:nvPr>
        </p:nvSpPr>
        <p:spPr>
          <a:xfrm>
            <a:off x="537840" y="139932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NL" sz="3000" spc="-1" strike="noStrike">
                <a:solidFill>
                  <a:srgbClr val="00b7ee"/>
                </a:solidFill>
                <a:latin typeface="Open Sans SemiBold"/>
              </a:rPr>
              <a:t>Business Understanding Components</a:t>
            </a:r>
            <a:endParaRPr b="0" lang="en-US" sz="3000" spc="-1" strike="noStrike">
              <a:latin typeface="Arial"/>
            </a:endParaRPr>
          </a:p>
        </p:txBody>
      </p:sp>
      <p:sp>
        <p:nvSpPr>
          <p:cNvPr id="221" name="PlaceHolder 2"/>
          <p:cNvSpPr>
            <a:spLocks noGrp="1"/>
          </p:cNvSpPr>
          <p:nvPr>
            <p:ph/>
          </p:nvPr>
        </p:nvSpPr>
        <p:spPr>
          <a:xfrm>
            <a:off x="537840" y="1881720"/>
            <a:ext cx="11143800" cy="3734640"/>
          </a:xfrm>
          <a:prstGeom prst="rect">
            <a:avLst/>
          </a:prstGeom>
          <a:noFill/>
          <a:ln w="0">
            <a:noFill/>
          </a:ln>
        </p:spPr>
        <p:txBody>
          <a:bodyPr lIns="90000" rIns="90000" tIns="45000" bIns="45000" anchor="t">
            <a:noAutofit/>
          </a:bodyPr>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Try to convey as much of the following requirements on the </a:t>
            </a:r>
            <a:r>
              <a:rPr b="0" lang="en-NL" sz="2100" spc="-1" strike="noStrike">
                <a:solidFill>
                  <a:srgbClr val="000000"/>
                </a:solidFill>
                <a:latin typeface="Open Sans"/>
                <a:ea typeface="Open Sans"/>
              </a:rPr>
              <a:t>AI Canvas</a:t>
            </a:r>
            <a:r>
              <a:rPr b="0" lang="en-US" sz="2100" spc="-1" strike="noStrike">
                <a:solidFill>
                  <a:srgbClr val="000000"/>
                </a:solidFill>
                <a:latin typeface="Open Sans"/>
                <a:ea typeface="Open Sans"/>
              </a:rPr>
              <a:t> on the next slide as possible.</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Use separate slides to:</a:t>
            </a:r>
            <a:endParaRPr b="0" lang="en-US" sz="2100" spc="-1" strike="noStrike">
              <a:latin typeface="Arial"/>
            </a:endParaRPr>
          </a:p>
          <a:p>
            <a:pPr lvl="1" marL="685800" indent="-228600">
              <a:lnSpc>
                <a:spcPct val="90000"/>
              </a:lnSpc>
              <a:spcBef>
                <a:spcPts val="499"/>
              </a:spcBef>
              <a:buClr>
                <a:srgbClr val="000000"/>
              </a:buClr>
              <a:buFont typeface="Arial"/>
              <a:buChar char="•"/>
            </a:pPr>
            <a:r>
              <a:rPr b="0" lang="en-GB" sz="2400" spc="-1" strike="noStrike">
                <a:solidFill>
                  <a:srgbClr val="000000"/>
                </a:solidFill>
                <a:latin typeface="Calibri"/>
                <a:ea typeface="Open Sans"/>
              </a:rPr>
              <a:t>Conduct market research &amp; target audience analysis </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n-GB" sz="2400" spc="-1" strike="noStrike">
                <a:solidFill>
                  <a:srgbClr val="000000"/>
                </a:solidFill>
                <a:latin typeface="Calibri"/>
                <a:ea typeface="Open Sans"/>
              </a:rPr>
              <a:t>Argue for proposal feasibility </a:t>
            </a:r>
            <a:endParaRPr b="0" lang="en-US" sz="2400" spc="-1" strike="noStrike">
              <a:latin typeface="Arial"/>
            </a:endParaRPr>
          </a:p>
          <a:p>
            <a:pPr>
              <a:lnSpc>
                <a:spcPct val="90000"/>
              </a:lnSpc>
              <a:spcBef>
                <a:spcPts val="1001"/>
              </a:spcBef>
              <a:buNone/>
              <a:tabLst>
                <a:tab algn="l" pos="0"/>
              </a:tabLst>
            </a:pPr>
            <a:r>
              <a:rPr b="1" lang="en-GB" sz="2000" spc="-1" strike="noStrike">
                <a:solidFill>
                  <a:srgbClr val="000000"/>
                </a:solidFill>
                <a:latin typeface="Open Sans"/>
                <a:ea typeface="Open Sans"/>
              </a:rPr>
              <a:t>ILO Mapping: </a:t>
            </a:r>
            <a:r>
              <a:rPr b="0" lang="en-GB" sz="2000" spc="-1" strike="noStrike">
                <a:solidFill>
                  <a:srgbClr val="000000"/>
                </a:solidFill>
                <a:latin typeface="Open Sans"/>
                <a:ea typeface="Open Sans"/>
              </a:rPr>
              <a:t>POOR, INSUFFICIENT</a:t>
            </a:r>
            <a:endParaRPr b="0" lang="en-US" sz="2000" spc="-1" strike="noStrike">
              <a:latin typeface="Arial"/>
            </a:endParaRPr>
          </a:p>
          <a:p>
            <a:pPr>
              <a:lnSpc>
                <a:spcPct val="90000"/>
              </a:lnSpc>
              <a:spcBef>
                <a:spcPts val="1001"/>
              </a:spcBef>
              <a:buNone/>
              <a:tabLst>
                <a:tab algn="l" pos="0"/>
              </a:tabLst>
            </a:pPr>
            <a:r>
              <a:rPr b="1" lang="en-GB" sz="2000" spc="-1" strike="noStrike">
                <a:solidFill>
                  <a:srgbClr val="000000"/>
                </a:solidFill>
                <a:latin typeface="Open Sans"/>
                <a:ea typeface="Open Sans"/>
              </a:rPr>
              <a:t>Business Understanding Requirements:</a:t>
            </a:r>
            <a:endParaRPr b="0" lang="en-US" sz="2000" spc="-1" strike="noStrike">
              <a:latin typeface="Arial"/>
            </a:endParaRPr>
          </a:p>
          <a:p>
            <a:pPr marL="198720" indent="-29160">
              <a:lnSpc>
                <a:spcPct val="90000"/>
              </a:lnSpc>
              <a:spcBef>
                <a:spcPts val="1001"/>
              </a:spcBef>
              <a:buClr>
                <a:srgbClr val="ee731a"/>
              </a:buClr>
              <a:buFont typeface="Arial"/>
              <a:buChar char="•"/>
              <a:tabLst>
                <a:tab algn="l" pos="0"/>
              </a:tabLst>
            </a:pPr>
            <a:r>
              <a:rPr b="1" lang="en-GB" sz="1600" spc="-1" strike="noStrike">
                <a:solidFill>
                  <a:srgbClr val="000000"/>
                </a:solidFill>
                <a:latin typeface="Open Sans"/>
                <a:ea typeface="Open Sans"/>
              </a:rPr>
              <a:t> </a:t>
            </a:r>
            <a:r>
              <a:rPr b="1" lang="en-GB" sz="1600" spc="-1" strike="noStrike">
                <a:solidFill>
                  <a:srgbClr val="000000"/>
                </a:solidFill>
                <a:latin typeface="Open Sans"/>
                <a:ea typeface="Open Sans"/>
              </a:rPr>
              <a:t>Conduct research into overall consumer market ( User case 1);</a:t>
            </a:r>
            <a:endParaRPr b="0" lang="en-US" sz="1600" spc="-1" strike="noStrike">
              <a:latin typeface="Arial"/>
            </a:endParaRPr>
          </a:p>
          <a:p>
            <a:pPr marL="198720" indent="-29160">
              <a:lnSpc>
                <a:spcPct val="90000"/>
              </a:lnSpc>
              <a:spcBef>
                <a:spcPts val="1001"/>
              </a:spcBef>
              <a:buClr>
                <a:srgbClr val="ee731a"/>
              </a:buClr>
              <a:buFont typeface="Arial"/>
              <a:buChar char="•"/>
              <a:tabLst>
                <a:tab algn="l" pos="0"/>
              </a:tabLst>
            </a:pPr>
            <a:r>
              <a:rPr b="1" lang="en-GB" sz="1600" spc="-1" strike="noStrike">
                <a:solidFill>
                  <a:srgbClr val="000000"/>
                </a:solidFill>
                <a:latin typeface="Open Sans"/>
                <a:ea typeface="Open Sans"/>
              </a:rPr>
              <a:t> </a:t>
            </a:r>
            <a:r>
              <a:rPr b="1" lang="en-GB" sz="1600" spc="-1" strike="noStrike">
                <a:solidFill>
                  <a:srgbClr val="000000"/>
                </a:solidFill>
                <a:latin typeface="Open Sans"/>
                <a:ea typeface="Open Sans"/>
              </a:rPr>
              <a:t>Based on the conducted research generate an idea for an overall consumer market ( User case 1);</a:t>
            </a:r>
            <a:endParaRPr b="0" lang="en-US" sz="1600" spc="-1" strike="noStrike">
              <a:latin typeface="Arial"/>
            </a:endParaRPr>
          </a:p>
          <a:p>
            <a:pPr marL="198720" indent="-29160">
              <a:lnSpc>
                <a:spcPct val="90000"/>
              </a:lnSpc>
              <a:spcBef>
                <a:spcPts val="1001"/>
              </a:spcBef>
              <a:buClr>
                <a:srgbClr val="ee731a"/>
              </a:buClr>
              <a:buFont typeface="Arial"/>
              <a:buChar char="•"/>
              <a:tabLst>
                <a:tab algn="l" pos="0"/>
              </a:tabLst>
            </a:pPr>
            <a:r>
              <a:rPr b="1" lang="en-GB" sz="1600" spc="-1" strike="noStrike">
                <a:solidFill>
                  <a:srgbClr val="000000"/>
                </a:solidFill>
                <a:latin typeface="Open Sans"/>
                <a:ea typeface="Open Sans"/>
              </a:rPr>
              <a:t> </a:t>
            </a:r>
            <a:r>
              <a:rPr b="1" lang="en-GB" sz="1600" spc="-1" strike="noStrike">
                <a:solidFill>
                  <a:srgbClr val="000000"/>
                </a:solidFill>
                <a:latin typeface="Open Sans"/>
                <a:ea typeface="Open Sans"/>
              </a:rPr>
              <a:t>Identify your actual customers and their needs by conducting segmentation, targeting and creating a user persona for your application ( User case 2);</a:t>
            </a:r>
            <a:endParaRPr b="0" lang="en-US" sz="1600" spc="-1" strike="noStrike">
              <a:latin typeface="Arial"/>
            </a:endParaRPr>
          </a:p>
          <a:p>
            <a:pPr marL="198720" indent="-29160">
              <a:lnSpc>
                <a:spcPct val="90000"/>
              </a:lnSpc>
              <a:spcBef>
                <a:spcPts val="1001"/>
              </a:spcBef>
              <a:buClr>
                <a:srgbClr val="ee731a"/>
              </a:buClr>
              <a:buFont typeface="Arial"/>
              <a:buChar char="•"/>
              <a:tabLst>
                <a:tab algn="l" pos="0"/>
              </a:tabLst>
            </a:pPr>
            <a:r>
              <a:rPr b="1" lang="en-GB" sz="1600" spc="-1" strike="noStrike">
                <a:solidFill>
                  <a:srgbClr val="000000"/>
                </a:solidFill>
                <a:latin typeface="Open Sans"/>
                <a:ea typeface="Open Sans"/>
              </a:rPr>
              <a:t> </a:t>
            </a:r>
            <a:r>
              <a:rPr b="1" lang="en-GB" sz="1600" spc="-1" strike="noStrike">
                <a:solidFill>
                  <a:srgbClr val="000000"/>
                </a:solidFill>
                <a:latin typeface="Open Sans"/>
                <a:ea typeface="Open Sans"/>
              </a:rPr>
              <a:t>Adjust your project proposal for an application based on the needs of your customers ( User case 2);</a:t>
            </a:r>
            <a:endParaRPr b="0" lang="en-US" sz="16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222" name="PlaceHolder 3"/>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NL" sz="4400" spc="-1" strike="noStrike">
                <a:solidFill>
                  <a:srgbClr val="0e3d67"/>
                </a:solidFill>
                <a:latin typeface="Open Sans Semibold"/>
              </a:rPr>
              <a:t>Value proposition</a:t>
            </a:r>
            <a:endParaRPr b="0" lang="en-US" sz="4400" spc="-1" strike="noStrike">
              <a:latin typeface="Arial"/>
            </a:endParaRPr>
          </a:p>
        </p:txBody>
      </p:sp>
      <p:sp>
        <p:nvSpPr>
          <p:cNvPr id="5" name="PlaceHolder 4"/>
          <p:cNvSpPr>
            <a:spLocks noGrp="1"/>
          </p:cNvSpPr>
          <p:nvPr>
            <p:ph type="sldNum" idx="8"/>
          </p:nvPr>
        </p:nvSpPr>
        <p:spPr/>
        <p:txBody>
          <a:bodyPr/>
          <a:p>
            <a:fld id="{8863C118-6935-41B7-91A9-2419505AB1D7}"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412560"/>
            <a:ext cx="11430000" cy="866520"/>
          </a:xfrm>
          <a:prstGeom prst="rect">
            <a:avLst/>
          </a:prstGeom>
          <a:noFill/>
          <a:ln w="0">
            <a:noFill/>
          </a:ln>
        </p:spPr>
        <p:txBody>
          <a:bodyPr lIns="90000" rIns="90000" tIns="45000" bIns="45000" anchor="t">
            <a:noAutofit/>
          </a:bodyPr>
          <a:p>
            <a:pPr>
              <a:lnSpc>
                <a:spcPct val="90000"/>
              </a:lnSpc>
              <a:spcBef>
                <a:spcPts val="499"/>
              </a:spcBef>
              <a:buNone/>
            </a:pPr>
            <a:r>
              <a:rPr b="0" lang="en-GB" sz="4400" spc="-1" strike="noStrike">
                <a:solidFill>
                  <a:srgbClr val="000000"/>
                </a:solidFill>
                <a:latin typeface="Calibri"/>
                <a:ea typeface="Open Sans"/>
              </a:rPr>
              <a:t>Research into overall consumer market​</a:t>
            </a:r>
            <a:endParaRPr b="0" lang="en-US" sz="4400" spc="-1" strike="noStrike">
              <a:latin typeface="Arial"/>
            </a:endParaRPr>
          </a:p>
        </p:txBody>
      </p:sp>
      <p:sp>
        <p:nvSpPr>
          <p:cNvPr id="224" name=""/>
          <p:cNvSpPr txBox="1"/>
          <p:nvPr/>
        </p:nvSpPr>
        <p:spPr>
          <a:xfrm>
            <a:off x="361800" y="1137600"/>
            <a:ext cx="11430000" cy="4953600"/>
          </a:xfrm>
          <a:prstGeom prst="rect">
            <a:avLst/>
          </a:prstGeom>
          <a:noFill/>
          <a:ln w="0">
            <a:noFill/>
          </a:ln>
        </p:spPr>
        <p:txBody>
          <a:bodyPr lIns="90000" rIns="90000" tIns="45000" bIns="45000" anchor="t">
            <a:noAutofit/>
          </a:bodyPr>
          <a:p>
            <a:r>
              <a:rPr b="0" lang="en-US" sz="1800" spc="-1" strike="noStrike">
                <a:latin typeface="Arial"/>
              </a:rPr>
              <a:t>What classifier product/product feature could make customers' lives easier? ​Real-time wild animal detecton through cameras with ability to deter wild animals. This would enable farmers to take action immediately when a wild animal is detected and prevent crop damage.</a:t>
            </a:r>
            <a:endParaRPr b="0" lang="en-US" sz="1800" spc="-1" strike="noStrike">
              <a:latin typeface="Arial"/>
            </a:endParaRPr>
          </a:p>
          <a:p>
            <a:endParaRPr b="0" lang="en-US" sz="1800" spc="-1" strike="noStrike">
              <a:latin typeface="Arial"/>
            </a:endParaRPr>
          </a:p>
          <a:p>
            <a:r>
              <a:rPr b="0" lang="en-US" sz="1800" spc="-1" strike="noStrike">
                <a:latin typeface="Arial"/>
              </a:rPr>
              <a:t>How can I improve my customers' experience? Notify user about detection of animal in area of remote crop fields and try to drive animal away by producing loud sound.</a:t>
            </a:r>
            <a:endParaRPr b="0" lang="en-US" sz="1800" spc="-1" strike="noStrike">
              <a:latin typeface="Arial"/>
            </a:endParaRPr>
          </a:p>
          <a:p>
            <a:endParaRPr b="0" lang="en-US" sz="1800" spc="-1" strike="noStrike">
              <a:latin typeface="Arial"/>
            </a:endParaRPr>
          </a:p>
          <a:p>
            <a:r>
              <a:rPr b="0" lang="en-US" sz="1800" spc="-1" strike="noStrike">
                <a:latin typeface="Arial"/>
              </a:rPr>
              <a:t>What problem can I alleviate for my customers?​ The wild animal detection system can limit the problem of crop damage caused by wild animals, reducing the financial losses and stress experienced by farmers.</a:t>
            </a:r>
            <a:endParaRPr b="0" lang="en-US" sz="1800" spc="-1" strike="noStrike">
              <a:latin typeface="Arial"/>
            </a:endParaRPr>
          </a:p>
          <a:p>
            <a:endParaRPr b="0" lang="en-US" sz="1800" spc="-1" strike="noStrike">
              <a:latin typeface="Arial"/>
            </a:endParaRPr>
          </a:p>
          <a:p>
            <a:r>
              <a:rPr b="0" lang="en-US" sz="1800" spc="-1" strike="noStrike">
                <a:latin typeface="Arial"/>
              </a:rPr>
              <a:t>What are the unmet needs of my customers?​ Surveillance system for remote crop fields with more effective deterrent system, or a more affordable price point.</a:t>
            </a:r>
            <a:endParaRPr b="0" lang="en-US" sz="1800" spc="-1" strike="noStrike">
              <a:latin typeface="Arial"/>
            </a:endParaRPr>
          </a:p>
          <a:p>
            <a:endParaRPr b="0" lang="en-US" sz="1800" spc="-1" strike="noStrike">
              <a:latin typeface="Arial"/>
            </a:endParaRPr>
          </a:p>
          <a:p>
            <a:r>
              <a:rPr b="0" lang="en-US" sz="1800" spc="-1" strike="noStrike">
                <a:latin typeface="Arial"/>
              </a:rPr>
              <a:t>Are current products on the market meeting customers' expectations? If not, what is lacking?​</a:t>
            </a:r>
            <a:endParaRPr b="0" lang="en-US" sz="1800" spc="-1" strike="noStrike">
              <a:latin typeface="Arial"/>
            </a:endParaRPr>
          </a:p>
          <a:p>
            <a:r>
              <a:rPr b="0" lang="en-US" sz="1800" spc="-1" strike="noStrike">
                <a:latin typeface="Arial"/>
              </a:rPr>
              <a:t>PREDATORGUARD is a producer of high end motion activated powerful LED flashlight to scare off animals. No notification or monitoring as a unit, is not effective at scaring off some animals.</a:t>
            </a:r>
            <a:endParaRPr b="0" lang="en-US" sz="1800" spc="-1" strike="noStrike">
              <a:latin typeface="Arial"/>
            </a:endParaRPr>
          </a:p>
          <a:p>
            <a:endParaRPr b="0" lang="en-US" sz="1800" spc="-1" strike="noStrike">
              <a:latin typeface="Arial"/>
            </a:endParaRPr>
          </a:p>
          <a:p>
            <a:r>
              <a:rPr b="0" lang="en-US" sz="1800" spc="-1" strike="noStrike">
                <a:latin typeface="Arial"/>
              </a:rPr>
              <a:t>Bell+Howell Solar Animal Repeller is an ultrasonic motion activated repeller.</a:t>
            </a:r>
            <a:endParaRPr b="0" lang="en-US" sz="1800" spc="-1" strike="noStrike">
              <a:latin typeface="Arial"/>
            </a:endParaRPr>
          </a:p>
          <a:p>
            <a:endParaRPr b="0" lang="en-US" sz="1800" spc="-1" strike="noStrike">
              <a:latin typeface="Arial"/>
            </a:endParaRPr>
          </a:p>
        </p:txBody>
      </p:sp>
      <p:sp>
        <p:nvSpPr>
          <p:cNvPr id="3" name="PlaceHolder 2"/>
          <p:cNvSpPr>
            <a:spLocks noGrp="1"/>
          </p:cNvSpPr>
          <p:nvPr>
            <p:ph type="sldNum" idx="8"/>
          </p:nvPr>
        </p:nvSpPr>
        <p:spPr/>
        <p:txBody>
          <a:bodyPr/>
          <a:p>
            <a:fld id="{425B900D-5D1C-4E2E-A779-67485BFA8357}"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
          <p:cNvSpPr txBox="1"/>
          <p:nvPr/>
        </p:nvSpPr>
        <p:spPr>
          <a:xfrm>
            <a:off x="228600" y="457200"/>
            <a:ext cx="11658600" cy="5257800"/>
          </a:xfrm>
          <a:prstGeom prst="rect">
            <a:avLst/>
          </a:prstGeom>
          <a:noFill/>
          <a:ln w="0">
            <a:noFill/>
          </a:ln>
        </p:spPr>
        <p:txBody>
          <a:bodyPr lIns="90000" rIns="90000" tIns="45000" bIns="45000" anchor="t">
            <a:noAutofit/>
          </a:bodyPr>
          <a:p>
            <a:r>
              <a:rPr b="0" lang="en-US" sz="1800" spc="-1" strike="noStrike">
                <a:latin typeface="Arial"/>
              </a:rPr>
              <a:t>Sources for market research:</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latin typeface="Arial"/>
                <a:hlinkClick r:id="rId1"/>
              </a:rPr>
              <a:t>https://viso.ai/applications/computer-vision-in-agriculture/</a:t>
            </a:r>
            <a:r>
              <a:rPr b="0" lang="en-US" sz="1800" spc="-1" strike="noStrike">
                <a:latin typeface="Arial"/>
              </a:rPr>
              <a:t>​</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latin typeface="Arial"/>
                <a:hlinkClick r:id="rId2"/>
              </a:rPr>
              <a:t>https://www.researchgate.net/publication/344387269_Wild_Animals_Intrusion_Detection_using_Deep_Learning_Techniques</a:t>
            </a:r>
            <a:r>
              <a:rPr b="0" lang="en-US" sz="1800" spc="-1" strike="noStrike">
                <a:latin typeface="Arial"/>
              </a:rPr>
              <a:t>​</a:t>
            </a:r>
            <a:endParaRPr b="0" lang="en-US" sz="1800" spc="-1" strike="noStrike">
              <a:latin typeface="Arial"/>
            </a:endParaRPr>
          </a:p>
          <a:p>
            <a:pPr>
              <a:lnSpc>
                <a:spcPct val="100000"/>
              </a:lnSpc>
              <a:buNone/>
            </a:pPr>
            <a:r>
              <a:rPr b="0" lang="en-US" sz="1800" spc="-1" strike="noStrike">
                <a:latin typeface="Arial"/>
                <a:hlinkClick r:id="rId3"/>
              </a:rPr>
              <a:t>https://towardsdatascience.com/detecting-animals-in-the-backyard-practical-application-of-deep-learning-c030d3263ba8</a:t>
            </a:r>
            <a:r>
              <a:rPr b="0" lang="en-US" sz="1800" spc="-1" strike="noStrike">
                <a:latin typeface="Arial"/>
              </a:rPr>
              <a:t>​</a:t>
            </a:r>
            <a:endParaRPr b="0" lang="en-US" sz="1800" spc="-1" strike="noStrike">
              <a:latin typeface="Arial"/>
            </a:endParaRPr>
          </a:p>
          <a:p>
            <a:r>
              <a:rPr b="0" lang="en-US" sz="1800" spc="-1" strike="noStrike">
                <a:latin typeface="Arial"/>
                <a:hlinkClick r:id="rId4"/>
              </a:rPr>
              <a:t>https://solarpowernerd.com/solar-powered-animal-repeller/</a:t>
            </a:r>
            <a:endParaRPr b="0" lang="en-US" sz="1800" spc="-1" strike="noStrike">
              <a:latin typeface="Arial"/>
            </a:endParaRPr>
          </a:p>
          <a:p>
            <a:endParaRPr b="0" lang="en-US" sz="1800" spc="-1" strike="noStrike">
              <a:latin typeface="Arial"/>
            </a:endParaRPr>
          </a:p>
          <a:p>
            <a:r>
              <a:rPr b="0" lang="en-US" sz="1800" spc="-1" strike="noStrike">
                <a:latin typeface="Arial"/>
                <a:hlinkClick r:id="rId5"/>
              </a:rPr>
              <a:t>https://www.amazon.com/dp/B003USMX7M?tag=solarpowernerd-20&amp;linkCode=ogi&amp;th=1&amp;psc=1</a:t>
            </a:r>
            <a:endParaRPr b="0" lang="en-US" sz="1800" spc="-1" strike="noStrike">
              <a:latin typeface="Arial"/>
            </a:endParaRPr>
          </a:p>
          <a:p>
            <a:endParaRPr b="0" lang="en-US" sz="1800" spc="-1" strike="noStrike">
              <a:latin typeface="Arial"/>
            </a:endParaRPr>
          </a:p>
          <a:p>
            <a:r>
              <a:rPr b="0" lang="en-US" sz="1800" spc="-1" strike="noStrike">
                <a:latin typeface="Arial"/>
                <a:hlinkClick r:id="rId6"/>
              </a:rPr>
              <a:t>https://www.amazon.com/dp/B00E51X8Q8?tag=solarpowernerd-20&amp;linkCode=ogi&amp;th=1</a:t>
            </a:r>
            <a:endParaRPr b="0" lang="en-US" sz="1800" spc="-1" strike="noStrike">
              <a:latin typeface="Arial"/>
            </a:endParaRPr>
          </a:p>
        </p:txBody>
      </p:sp>
      <p:sp>
        <p:nvSpPr>
          <p:cNvPr id="2" name="PlaceHolder 1"/>
          <p:cNvSpPr>
            <a:spLocks noGrp="1"/>
          </p:cNvSpPr>
          <p:nvPr>
            <p:ph type="sldNum" idx="8"/>
          </p:nvPr>
        </p:nvSpPr>
        <p:spPr/>
        <p:txBody>
          <a:bodyPr/>
          <a:p>
            <a:fld id="{CA4E3D5E-5B49-430B-BE5F-DB37E16A803C}"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
          <p:cNvSpPr txBox="1"/>
          <p:nvPr/>
        </p:nvSpPr>
        <p:spPr>
          <a:xfrm>
            <a:off x="1371600" y="1371600"/>
            <a:ext cx="9829800" cy="858240"/>
          </a:xfrm>
          <a:prstGeom prst="rect">
            <a:avLst/>
          </a:prstGeom>
          <a:noFill/>
          <a:ln w="0">
            <a:noFill/>
          </a:ln>
        </p:spPr>
        <p:txBody>
          <a:bodyPr lIns="90000" rIns="90000" tIns="45000" bIns="45000" anchor="t">
            <a:noAutofit/>
          </a:bodyPr>
          <a:p>
            <a:r>
              <a:rPr b="0" lang="en-US" sz="1800" spc="-1" strike="noStrike">
                <a:latin typeface="Arial"/>
                <a:ea typeface="Noto Sans CJK SC"/>
              </a:rPr>
              <a:t>Wild animal detection computer vision integrated into deterant system with </a:t>
            </a:r>
            <a:r>
              <a:rPr b="0" lang="en-US" sz="1800" spc="-1" strike="noStrike">
                <a:latin typeface="Arial"/>
              </a:rPr>
              <a:t>bright LED lights and high-pitch sounds.</a:t>
            </a:r>
            <a:endParaRPr b="0" lang="en-US" sz="1800" spc="-1" strike="noStrike">
              <a:latin typeface="Arial"/>
            </a:endParaRPr>
          </a:p>
        </p:txBody>
      </p:sp>
      <p:sp>
        <p:nvSpPr>
          <p:cNvPr id="227" name=""/>
          <p:cNvSpPr txBox="1"/>
          <p:nvPr/>
        </p:nvSpPr>
        <p:spPr>
          <a:xfrm>
            <a:off x="1143000" y="228600"/>
            <a:ext cx="3886200" cy="346320"/>
          </a:xfrm>
          <a:prstGeom prst="rect">
            <a:avLst/>
          </a:prstGeom>
          <a:noFill/>
          <a:ln w="0">
            <a:noFill/>
          </a:ln>
        </p:spPr>
        <p:txBody>
          <a:bodyPr lIns="90000" rIns="90000" tIns="45000" bIns="45000" anchor="t">
            <a:noAutofit/>
          </a:bodyPr>
          <a:p>
            <a:r>
              <a:rPr b="0" lang="en-US" sz="1800" spc="-1" strike="noStrike">
                <a:latin typeface="Arial"/>
              </a:rPr>
              <a:t>Project proposal:</a:t>
            </a:r>
            <a:endParaRPr b="0" lang="en-US" sz="1800" spc="-1" strike="noStrike">
              <a:latin typeface="Arial"/>
            </a:endParaRPr>
          </a:p>
        </p:txBody>
      </p:sp>
      <p:sp>
        <p:nvSpPr>
          <p:cNvPr id="2" name="PlaceHolder 1"/>
          <p:cNvSpPr>
            <a:spLocks noGrp="1"/>
          </p:cNvSpPr>
          <p:nvPr>
            <p:ph type="sldNum" idx="8"/>
          </p:nvPr>
        </p:nvSpPr>
        <p:spPr/>
        <p:txBody>
          <a:bodyPr/>
          <a:p>
            <a:fld id="{AC8F4926-80B0-4188-919C-56AF966098EC}"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NL" sz="4400" spc="-1" strike="noStrike">
                <a:solidFill>
                  <a:srgbClr val="0e3d67"/>
                </a:solidFill>
                <a:latin typeface="Open Sans Semibold"/>
              </a:rPr>
              <a:t>AI Canvas</a:t>
            </a:r>
            <a:r>
              <a:rPr b="0" lang="en-US" sz="4400" spc="-1" strike="noStrike">
                <a:solidFill>
                  <a:srgbClr val="0e3d67"/>
                </a:solidFill>
                <a:latin typeface="Open Sans Semibold"/>
              </a:rPr>
              <a:t>: provide high-level overview</a:t>
            </a:r>
            <a:endParaRPr b="0" lang="en-US" sz="4400" spc="-1" strike="noStrike">
              <a:latin typeface="Arial"/>
            </a:endParaRPr>
          </a:p>
        </p:txBody>
      </p:sp>
      <p:pic>
        <p:nvPicPr>
          <p:cNvPr id="229" name="Picture 2" descr=""/>
          <p:cNvPicPr/>
          <p:nvPr/>
        </p:nvPicPr>
        <p:blipFill>
          <a:blip r:embed="rId1"/>
          <a:stretch/>
        </p:blipFill>
        <p:spPr>
          <a:xfrm>
            <a:off x="383040" y="1058040"/>
            <a:ext cx="11607480" cy="4732200"/>
          </a:xfrm>
          <a:prstGeom prst="rect">
            <a:avLst/>
          </a:prstGeom>
          <a:ln w="0">
            <a:noFill/>
          </a:ln>
        </p:spPr>
      </p:pic>
      <p:sp>
        <p:nvSpPr>
          <p:cNvPr id="230" name="Rectangle 1"/>
          <p:cNvSpPr/>
          <p:nvPr/>
        </p:nvSpPr>
        <p:spPr>
          <a:xfrm>
            <a:off x="3646080" y="3200400"/>
            <a:ext cx="2296800" cy="1042200"/>
          </a:xfrm>
          <a:prstGeom prst="rect">
            <a:avLst/>
          </a:prstGeom>
          <a:solidFill>
            <a:srgbClr val="ec7c30"/>
          </a:solidFill>
          <a:ln w="12600">
            <a:solidFill>
              <a:srgbClr val="0087af"/>
            </a:solidFill>
            <a:miter/>
          </a:ln>
        </p:spPr>
        <p:style>
          <a:lnRef idx="0"/>
          <a:fillRef idx="0"/>
          <a:effectRef idx="0"/>
          <a:fontRef idx="minor"/>
        </p:style>
        <p:txBody>
          <a:bodyPr lIns="90000" rIns="90000" tIns="45000" bIns="45000" anchor="ctr">
            <a:noAutofit/>
          </a:bodyPr>
          <a:p>
            <a:pPr algn="ctr">
              <a:lnSpc>
                <a:spcPct val="100000"/>
              </a:lnSpc>
              <a:buNone/>
            </a:pPr>
            <a:r>
              <a:rPr b="0" lang="en-GB" sz="1800" spc="-1" strike="noStrike">
                <a:solidFill>
                  <a:srgbClr val="ffffff"/>
                </a:solidFill>
                <a:latin typeface="Calibri"/>
                <a:ea typeface="DejaVu Sans"/>
              </a:rPr>
              <a:t>Farmers and municipality</a:t>
            </a:r>
            <a:endParaRPr b="0" lang="en-US" sz="1800" spc="-1" strike="noStrike">
              <a:latin typeface="Arial"/>
            </a:endParaRPr>
          </a:p>
        </p:txBody>
      </p:sp>
      <p:sp>
        <p:nvSpPr>
          <p:cNvPr id="231" name="Rectangle 2"/>
          <p:cNvSpPr/>
          <p:nvPr/>
        </p:nvSpPr>
        <p:spPr>
          <a:xfrm>
            <a:off x="2743200" y="1828800"/>
            <a:ext cx="3211200" cy="1028880"/>
          </a:xfrm>
          <a:prstGeom prst="rect">
            <a:avLst/>
          </a:prstGeom>
          <a:solidFill>
            <a:srgbClr val="ec7c30"/>
          </a:solidFill>
          <a:ln w="12600">
            <a:solidFill>
              <a:srgbClr val="0087af"/>
            </a:solidFill>
            <a:miter/>
          </a:ln>
        </p:spPr>
        <p:style>
          <a:lnRef idx="0"/>
          <a:fillRef idx="0"/>
          <a:effectRef idx="0"/>
          <a:fontRef idx="minor"/>
        </p:style>
        <p:txBody>
          <a:bodyPr lIns="90000" rIns="90000" tIns="45000" bIns="45000" anchor="ctr">
            <a:noAutofit/>
          </a:bodyPr>
          <a:p>
            <a:pPr algn="ctr">
              <a:lnSpc>
                <a:spcPct val="100000"/>
              </a:lnSpc>
              <a:buNone/>
            </a:pPr>
            <a:r>
              <a:rPr b="0" lang="en-GB" sz="1800" spc="-1" strike="noStrike">
                <a:solidFill>
                  <a:srgbClr val="ffffff"/>
                </a:solidFill>
                <a:latin typeface="Calibri"/>
                <a:ea typeface="DejaVu Sans"/>
              </a:rPr>
              <a:t>Wild animals are destroying crops and terrorizing citizens</a:t>
            </a:r>
            <a:endParaRPr b="0" lang="en-US" sz="1800" spc="-1" strike="noStrike">
              <a:latin typeface="Arial"/>
            </a:endParaRPr>
          </a:p>
        </p:txBody>
      </p:sp>
      <p:sp>
        <p:nvSpPr>
          <p:cNvPr id="232" name="Rectangle 3"/>
          <p:cNvSpPr/>
          <p:nvPr/>
        </p:nvSpPr>
        <p:spPr>
          <a:xfrm>
            <a:off x="8229600" y="1859040"/>
            <a:ext cx="2492640" cy="883440"/>
          </a:xfrm>
          <a:prstGeom prst="rect">
            <a:avLst/>
          </a:prstGeom>
          <a:solidFill>
            <a:srgbClr val="ec7c30"/>
          </a:solidFill>
          <a:ln w="12600">
            <a:solidFill>
              <a:srgbClr val="0087af"/>
            </a:solidFill>
            <a:miter/>
          </a:ln>
        </p:spPr>
        <p:style>
          <a:lnRef idx="0"/>
          <a:fillRef idx="0"/>
          <a:effectRef idx="0"/>
          <a:fontRef idx="minor"/>
        </p:style>
        <p:txBody>
          <a:bodyPr lIns="90000" rIns="90000" tIns="45000" bIns="45000" anchor="ctr">
            <a:noAutofit/>
          </a:bodyPr>
          <a:p>
            <a:pPr algn="ctr">
              <a:lnSpc>
                <a:spcPct val="100000"/>
              </a:lnSpc>
              <a:buNone/>
            </a:pPr>
            <a:r>
              <a:rPr b="0" lang="en-GB" sz="1800" spc="-1" strike="noStrike">
                <a:solidFill>
                  <a:srgbClr val="ffffff"/>
                </a:solidFill>
                <a:latin typeface="Calibri"/>
                <a:ea typeface="DejaVu Sans"/>
              </a:rPr>
              <a:t>An application that detects animals and notifies clients</a:t>
            </a:r>
            <a:endParaRPr b="0" lang="en-US" sz="1800" spc="-1" strike="noStrike">
              <a:latin typeface="Arial"/>
            </a:endParaRPr>
          </a:p>
        </p:txBody>
      </p:sp>
      <p:sp>
        <p:nvSpPr>
          <p:cNvPr id="233" name="Rectangle 3"/>
          <p:cNvSpPr/>
          <p:nvPr/>
        </p:nvSpPr>
        <p:spPr>
          <a:xfrm>
            <a:off x="6172200" y="5397120"/>
            <a:ext cx="2892240" cy="774360"/>
          </a:xfrm>
          <a:prstGeom prst="rect">
            <a:avLst/>
          </a:prstGeom>
          <a:solidFill>
            <a:srgbClr val="ec7c30"/>
          </a:solidFill>
          <a:ln w="12600">
            <a:solidFill>
              <a:srgbClr val="0087af"/>
            </a:solidFill>
            <a:miter/>
          </a:ln>
        </p:spPr>
        <p:style>
          <a:lnRef idx="0"/>
          <a:fillRef idx="0"/>
          <a:effectRef idx="0"/>
          <a:fontRef idx="minor"/>
        </p:style>
        <p:txBody>
          <a:bodyPr lIns="90000" rIns="90000" tIns="45000" bIns="45000" anchor="ctr">
            <a:noAutofit/>
          </a:bodyPr>
          <a:p>
            <a:pPr algn="ctr">
              <a:lnSpc>
                <a:spcPct val="100000"/>
              </a:lnSpc>
              <a:buNone/>
            </a:pPr>
            <a:r>
              <a:rPr b="0" lang="en-GB" sz="1800" spc="-1" strike="noStrike">
                <a:solidFill>
                  <a:srgbClr val="ffffff"/>
                </a:solidFill>
                <a:latin typeface="Calibri"/>
                <a:ea typeface="DejaVu Sans"/>
              </a:rPr>
              <a:t>Xception base with additional convolutional layers</a:t>
            </a:r>
            <a:endParaRPr b="0" lang="en-US" sz="1800" spc="-1" strike="noStrike">
              <a:latin typeface="Arial"/>
            </a:endParaRPr>
          </a:p>
        </p:txBody>
      </p:sp>
      <p:sp>
        <p:nvSpPr>
          <p:cNvPr id="234" name="Rectangle 3"/>
          <p:cNvSpPr/>
          <p:nvPr/>
        </p:nvSpPr>
        <p:spPr>
          <a:xfrm>
            <a:off x="10789560" y="5369760"/>
            <a:ext cx="722520" cy="414720"/>
          </a:xfrm>
          <a:prstGeom prst="rect">
            <a:avLst/>
          </a:prstGeom>
          <a:solidFill>
            <a:srgbClr val="ec7c30"/>
          </a:solidFill>
          <a:ln w="12600">
            <a:solidFill>
              <a:srgbClr val="0087af"/>
            </a:solidFill>
            <a:miter/>
          </a:ln>
        </p:spPr>
        <p:style>
          <a:lnRef idx="0"/>
          <a:fillRef idx="0"/>
          <a:effectRef idx="0"/>
          <a:fontRef idx="minor"/>
        </p:style>
        <p:txBody>
          <a:bodyPr lIns="90000" rIns="90000" tIns="45000" bIns="45000" anchor="ctr">
            <a:noAutofit/>
          </a:bodyPr>
          <a:p>
            <a:pPr algn="ctr">
              <a:lnSpc>
                <a:spcPct val="100000"/>
              </a:lnSpc>
              <a:buNone/>
            </a:pPr>
            <a:r>
              <a:rPr b="0" lang="en-GB" sz="1800" spc="-1" strike="noStrike">
                <a:solidFill>
                  <a:srgbClr val="ffffff"/>
                </a:solidFill>
                <a:latin typeface="Calibri"/>
                <a:ea typeface="DejaVu Sans"/>
              </a:rPr>
              <a:t>PoC</a:t>
            </a:r>
            <a:endParaRPr b="0" lang="en-US" sz="1800" spc="-1" strike="noStrike">
              <a:latin typeface="Arial"/>
            </a:endParaRPr>
          </a:p>
        </p:txBody>
      </p:sp>
      <p:sp>
        <p:nvSpPr>
          <p:cNvPr id="235" name="Rectangle 3"/>
          <p:cNvSpPr/>
          <p:nvPr/>
        </p:nvSpPr>
        <p:spPr>
          <a:xfrm>
            <a:off x="7190640" y="3027240"/>
            <a:ext cx="4715280" cy="806040"/>
          </a:xfrm>
          <a:prstGeom prst="rect">
            <a:avLst/>
          </a:prstGeom>
          <a:solidFill>
            <a:srgbClr val="ec7c30"/>
          </a:solidFill>
          <a:ln w="12600">
            <a:solidFill>
              <a:srgbClr val="0087af"/>
            </a:solidFill>
            <a:miter/>
          </a:ln>
        </p:spPr>
        <p:style>
          <a:lnRef idx="0"/>
          <a:fillRef idx="0"/>
          <a:effectRef idx="0"/>
          <a:fontRef idx="minor"/>
        </p:style>
        <p:txBody>
          <a:bodyPr lIns="90000" rIns="90000" tIns="45000" bIns="45000" anchor="ctr">
            <a:noAutofit/>
          </a:bodyPr>
          <a:p>
            <a:pPr algn="ctr">
              <a:lnSpc>
                <a:spcPct val="100000"/>
              </a:lnSpc>
              <a:buNone/>
            </a:pPr>
            <a:r>
              <a:rPr b="0" lang="en-GB" sz="1800" spc="-1" strike="noStrike">
                <a:solidFill>
                  <a:srgbClr val="ffffff"/>
                </a:solidFill>
                <a:latin typeface="Calibri"/>
                <a:ea typeface="DejaVu Sans"/>
              </a:rPr>
              <a:t>An Image from Imsitu database and DuckDuckGo images</a:t>
            </a:r>
            <a:endParaRPr b="0" lang="en-US" sz="1800" spc="-1" strike="noStrike">
              <a:latin typeface="Arial"/>
            </a:endParaRPr>
          </a:p>
        </p:txBody>
      </p:sp>
      <p:sp>
        <p:nvSpPr>
          <p:cNvPr id="236" name="Rectangle 3"/>
          <p:cNvSpPr/>
          <p:nvPr/>
        </p:nvSpPr>
        <p:spPr>
          <a:xfrm>
            <a:off x="3372480" y="5583240"/>
            <a:ext cx="2413440" cy="414720"/>
          </a:xfrm>
          <a:prstGeom prst="rect">
            <a:avLst/>
          </a:prstGeom>
          <a:solidFill>
            <a:srgbClr val="ec7c30"/>
          </a:solidFill>
          <a:ln w="12600">
            <a:solidFill>
              <a:srgbClr val="0087af"/>
            </a:solidFill>
            <a:miter/>
          </a:ln>
        </p:spPr>
        <p:style>
          <a:lnRef idx="0"/>
          <a:fillRef idx="0"/>
          <a:effectRef idx="0"/>
          <a:fontRef idx="minor"/>
        </p:style>
        <p:txBody>
          <a:bodyPr lIns="90000" rIns="90000" tIns="45000" bIns="45000" anchor="ctr">
            <a:noAutofit/>
          </a:bodyPr>
          <a:p>
            <a:pPr algn="ctr">
              <a:lnSpc>
                <a:spcPct val="100000"/>
              </a:lnSpc>
              <a:buNone/>
            </a:pPr>
            <a:r>
              <a:rPr b="0" lang="en-GB" sz="1800" spc="-1" strike="noStrike">
                <a:solidFill>
                  <a:srgbClr val="ffffff"/>
                </a:solidFill>
                <a:latin typeface="Calibri"/>
                <a:ea typeface="DejaVu Sans"/>
              </a:rPr>
              <a:t>DISRUPTIVE TECH RISKS</a:t>
            </a:r>
            <a:endParaRPr b="0" lang="en-US" sz="1800" spc="-1" strike="noStrike">
              <a:latin typeface="Arial"/>
            </a:endParaRPr>
          </a:p>
        </p:txBody>
      </p:sp>
      <p:sp>
        <p:nvSpPr>
          <p:cNvPr id="237" name="Rectangle 3"/>
          <p:cNvSpPr/>
          <p:nvPr/>
        </p:nvSpPr>
        <p:spPr>
          <a:xfrm>
            <a:off x="2405880" y="4875120"/>
            <a:ext cx="869400" cy="608040"/>
          </a:xfrm>
          <a:prstGeom prst="rect">
            <a:avLst/>
          </a:prstGeom>
          <a:solidFill>
            <a:srgbClr val="ec7c30"/>
          </a:solidFill>
          <a:ln w="12600">
            <a:solidFill>
              <a:srgbClr val="0087af"/>
            </a:solidFill>
            <a:miter/>
          </a:ln>
        </p:spPr>
        <p:style>
          <a:lnRef idx="0"/>
          <a:fillRef idx="0"/>
          <a:effectRef idx="0"/>
          <a:fontRef idx="minor"/>
        </p:style>
        <p:txBody>
          <a:bodyPr lIns="90000" rIns="90000" tIns="45000" bIns="45000" anchor="ctr">
            <a:noAutofit/>
          </a:bodyPr>
          <a:p>
            <a:pPr algn="ctr">
              <a:lnSpc>
                <a:spcPct val="100000"/>
              </a:lnSpc>
              <a:buNone/>
            </a:pPr>
            <a:r>
              <a:rPr b="0" lang="en-GB" sz="1400" spc="-1" strike="noStrike">
                <a:solidFill>
                  <a:srgbClr val="ffffff"/>
                </a:solidFill>
                <a:latin typeface="Calibri"/>
                <a:ea typeface="DejaVu Sans"/>
              </a:rPr>
              <a:t>SKIP THIS PART</a:t>
            </a:r>
            <a:endParaRPr b="0" lang="en-US" sz="1400" spc="-1" strike="noStrike">
              <a:latin typeface="Arial"/>
            </a:endParaRPr>
          </a:p>
        </p:txBody>
      </p:sp>
      <p:sp>
        <p:nvSpPr>
          <p:cNvPr id="3" name="PlaceHolder 2"/>
          <p:cNvSpPr>
            <a:spLocks noGrp="1"/>
          </p:cNvSpPr>
          <p:nvPr>
            <p:ph type="sldNum" idx="5"/>
          </p:nvPr>
        </p:nvSpPr>
        <p:spPr/>
        <p:txBody>
          <a:bodyPr/>
          <a:p>
            <a:fld id="{565F5C1C-C5EA-4ABB-B789-D0D1BF821294}"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0CB9120E-9F9A-4A17-B9DF-1D4E5123CEC4}"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p:nvPr>
        </p:nvSpPr>
        <p:spPr>
          <a:xfrm>
            <a:off x="537840" y="139932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3000" spc="-1" strike="noStrike">
                <a:solidFill>
                  <a:srgbClr val="00b7ee"/>
                </a:solidFill>
                <a:latin typeface="Open Sans SemiBold"/>
                <a:ea typeface="Open Sans SemiBold"/>
              </a:rPr>
              <a:t>Bias, fairness, transparency and interpretability</a:t>
            </a:r>
            <a:endParaRPr b="0" lang="en-US" sz="3000" spc="-1" strike="noStrike">
              <a:latin typeface="Arial"/>
            </a:endParaRPr>
          </a:p>
        </p:txBody>
      </p:sp>
      <p:sp>
        <p:nvSpPr>
          <p:cNvPr id="239" name="PlaceHolder 2"/>
          <p:cNvSpPr>
            <a:spLocks noGrp="1"/>
          </p:cNvSpPr>
          <p:nvPr>
            <p:ph/>
          </p:nvPr>
        </p:nvSpPr>
        <p:spPr>
          <a:xfrm>
            <a:off x="537840" y="1521720"/>
            <a:ext cx="11143800" cy="4421520"/>
          </a:xfrm>
          <a:prstGeom prst="rect">
            <a:avLst/>
          </a:prstGeom>
          <a:noFill/>
          <a:ln w="0">
            <a:noFill/>
          </a:ln>
        </p:spPr>
        <p:txBody>
          <a:bodyPr lIns="90000" rIns="90000" tIns="45000" bIns="45000" anchor="t">
            <a:noAutofit/>
          </a:bodyPr>
          <a:p>
            <a:pPr>
              <a:lnSpc>
                <a:spcPct val="90000"/>
              </a:lnSpc>
              <a:spcBef>
                <a:spcPts val="1001"/>
              </a:spcBef>
              <a:buNone/>
              <a:tabLst>
                <a:tab algn="l" pos="0"/>
              </a:tabLst>
            </a:pPr>
            <a:endParaRPr b="0" lang="en-US" sz="2100" spc="-1" strike="noStrike">
              <a:latin typeface="Arial"/>
            </a:endParaRPr>
          </a:p>
          <a:p>
            <a:pPr marL="198720" indent="-198720">
              <a:lnSpc>
                <a:spcPct val="90000"/>
              </a:lnSpc>
              <a:spcBef>
                <a:spcPts val="1001"/>
              </a:spcBef>
              <a:buClr>
                <a:srgbClr val="ee731a"/>
              </a:buClr>
              <a:buFont typeface="Arial"/>
              <a:buChar char="•"/>
              <a:tabLst>
                <a:tab algn="l" pos="0"/>
              </a:tabLst>
            </a:pPr>
            <a:r>
              <a:rPr b="0" lang="en-GB" sz="2100" spc="-1" strike="noStrike">
                <a:solidFill>
                  <a:srgbClr val="000000"/>
                </a:solidFill>
                <a:latin typeface="Open Sans"/>
                <a:ea typeface="Open Sans"/>
              </a:rPr>
              <a:t>There are very few pictures containing people of color in the dataset, and certain activities seem to be largely dominated by a particular group of individuals, such as yoga, which appears to have fewer male participants and a larger female demographic.</a:t>
            </a:r>
            <a:endParaRPr b="0" lang="en-US" sz="2100" spc="-1" strike="noStrike">
              <a:latin typeface="Arial"/>
            </a:endParaRPr>
          </a:p>
          <a:p>
            <a:pPr marL="198720" indent="-198720">
              <a:lnSpc>
                <a:spcPct val="90000"/>
              </a:lnSpc>
              <a:spcBef>
                <a:spcPts val="1001"/>
              </a:spcBef>
              <a:buClr>
                <a:srgbClr val="ee731a"/>
              </a:buClr>
              <a:buFont typeface="Arial"/>
              <a:buChar char="•"/>
              <a:tabLst>
                <a:tab algn="l" pos="0"/>
              </a:tabLst>
            </a:pPr>
            <a:r>
              <a:rPr b="0" lang="en-GB" sz="2100" spc="-1" strike="noStrike">
                <a:solidFill>
                  <a:srgbClr val="000000"/>
                </a:solidFill>
                <a:latin typeface="Open Sans"/>
                <a:ea typeface="Open Sans"/>
              </a:rPr>
              <a:t>Some activities can be associated with specific groups, which can harm those groups or outside groups. For instance, in the context of computer vision models detecting people performing yoga, there can be bias in the way the model is trained, which can lead to discriminatory outcomes. In particular, the model may be biased towards certain characteristics that are more commonly associated with the dominant group of people who typically practice yoga, such as women, and thus be less effective at detecting individuals from underrepresented groups, such as men.</a:t>
            </a:r>
            <a:endParaRPr b="0" lang="en-US" sz="2100" spc="-1" strike="noStrike">
              <a:latin typeface="Arial"/>
            </a:endParaRPr>
          </a:p>
        </p:txBody>
      </p:sp>
      <p:sp>
        <p:nvSpPr>
          <p:cNvPr id="240" name="PlaceHolder 3"/>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NL" sz="4400" spc="-1" strike="noStrike">
                <a:solidFill>
                  <a:srgbClr val="0e3d67"/>
                </a:solidFill>
                <a:latin typeface="Open Sans Semibold"/>
                <a:ea typeface="Open Sans Semibold"/>
              </a:rPr>
              <a:t>Responsible AI (Fairness &amp; Bias)</a:t>
            </a:r>
            <a:endParaRPr b="0" lang="en-US" sz="4400" spc="-1" strike="noStrike">
              <a:latin typeface="Arial"/>
            </a:endParaRPr>
          </a:p>
        </p:txBody>
      </p:sp>
      <p:sp>
        <p:nvSpPr>
          <p:cNvPr id="5" name="PlaceHolder 4"/>
          <p:cNvSpPr>
            <a:spLocks noGrp="1"/>
          </p:cNvSpPr>
          <p:nvPr>
            <p:ph type="sldNum" idx="8"/>
          </p:nvPr>
        </p:nvSpPr>
        <p:spPr/>
        <p:txBody>
          <a:bodyPr/>
          <a:p>
            <a:fld id="{03F0261C-7288-4A10-8702-0805F5D9EC00}"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p:nvPr>
        </p:nvSpPr>
        <p:spPr>
          <a:xfrm>
            <a:off x="588600" y="113256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NL" sz="3000" spc="-1" strike="noStrike">
                <a:solidFill>
                  <a:srgbClr val="00b7ee"/>
                </a:solidFill>
                <a:latin typeface="Open Sans SemiBold"/>
                <a:ea typeface="Open Sans SemiBold"/>
              </a:rPr>
              <a:t>Present the final model you developed on the use-case you selected.</a:t>
            </a:r>
            <a:endParaRPr b="0" lang="en-US" sz="3000" spc="-1" strike="noStrike">
              <a:latin typeface="Arial"/>
            </a:endParaRPr>
          </a:p>
        </p:txBody>
      </p:sp>
      <p:sp>
        <p:nvSpPr>
          <p:cNvPr id="242" name="PlaceHolder 2"/>
          <p:cNvSpPr>
            <a:spLocks noGrp="1"/>
          </p:cNvSpPr>
          <p:nvPr>
            <p:ph/>
          </p:nvPr>
        </p:nvSpPr>
        <p:spPr>
          <a:xfrm>
            <a:off x="588600" y="2123280"/>
            <a:ext cx="11143800" cy="3734640"/>
          </a:xfrm>
          <a:prstGeom prst="rect">
            <a:avLst/>
          </a:prstGeom>
          <a:noFill/>
          <a:ln w="0">
            <a:noFill/>
          </a:ln>
        </p:spPr>
        <p:txBody>
          <a:bodyPr lIns="90000" rIns="90000" tIns="45000" bIns="45000" anchor="t">
            <a:noAutofit/>
          </a:bodyPr>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The dataset</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Baselines</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Preprocessing</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CNN architecture</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CNN training</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Model performance</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Error analysis</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Iteration</a:t>
            </a:r>
            <a:endParaRPr b="0" lang="en-US" sz="2100" spc="-1" strike="noStrike">
              <a:latin typeface="Arial"/>
            </a:endParaRPr>
          </a:p>
          <a:p>
            <a:pPr>
              <a:lnSpc>
                <a:spcPct val="90000"/>
              </a:lnSpc>
              <a:spcBef>
                <a:spcPts val="1001"/>
              </a:spcBef>
              <a:buNone/>
              <a:tabLst>
                <a:tab algn="l" pos="0"/>
              </a:tabLst>
            </a:pPr>
            <a:r>
              <a:rPr b="1" lang="en-GB" sz="2100" spc="-1" strike="noStrike">
                <a:solidFill>
                  <a:srgbClr val="000000"/>
                </a:solidFill>
                <a:latin typeface="Open Sans"/>
                <a:ea typeface="Open Sans"/>
              </a:rPr>
              <a:t>ILO Mapping: </a:t>
            </a:r>
            <a:r>
              <a:rPr b="0" lang="en-GB" sz="2100" spc="-1" strike="noStrike">
                <a:solidFill>
                  <a:srgbClr val="000000"/>
                </a:solidFill>
                <a:latin typeface="Open Sans"/>
                <a:ea typeface="Open Sans"/>
              </a:rPr>
              <a:t>The PoC slides relate to ILO 4.1 Sufficient &amp; Good criteria</a:t>
            </a:r>
            <a:endParaRPr b="0" lang="en-US" sz="21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243" name="PlaceHolder 3"/>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NL" sz="4400" spc="-1" strike="noStrike">
                <a:solidFill>
                  <a:srgbClr val="0e3d67"/>
                </a:solidFill>
                <a:latin typeface="Open Sans Semibold"/>
                <a:ea typeface="Open Sans Semibold"/>
              </a:rPr>
              <a:t>Proof-of-Concept: Deep Learning</a:t>
            </a:r>
            <a:endParaRPr b="0" lang="en-US" sz="4400" spc="-1" strike="noStrike">
              <a:latin typeface="Arial"/>
            </a:endParaRPr>
          </a:p>
        </p:txBody>
      </p:sp>
      <p:sp>
        <p:nvSpPr>
          <p:cNvPr id="5" name="PlaceHolder 4"/>
          <p:cNvSpPr>
            <a:spLocks noGrp="1"/>
          </p:cNvSpPr>
          <p:nvPr>
            <p:ph type="sldNum" idx="8"/>
          </p:nvPr>
        </p:nvSpPr>
        <p:spPr/>
        <p:txBody>
          <a:bodyPr/>
          <a:p>
            <a:fld id="{38F7AFD7-BC6C-49EB-B259-BB5EEB3F73F1}"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p:nvPr>
        </p:nvSpPr>
        <p:spPr>
          <a:xfrm>
            <a:off x="537840" y="1471320"/>
            <a:ext cx="11143800" cy="4154040"/>
          </a:xfrm>
          <a:prstGeom prst="rect">
            <a:avLst/>
          </a:prstGeom>
          <a:noFill/>
          <a:ln w="0">
            <a:noFill/>
          </a:ln>
        </p:spPr>
        <p:txBody>
          <a:bodyPr lIns="90000" rIns="90000" tIns="45000" bIns="45000" anchor="t">
            <a:noAutofit/>
          </a:bodyPr>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Binary classification (is there an animal?)</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Show a few examples per class</a:t>
            </a:r>
            <a:endParaRPr b="0" lang="en-US" sz="2100" spc="-1" strike="noStrike">
              <a:latin typeface="Arial"/>
            </a:endParaRPr>
          </a:p>
          <a:p>
            <a:pPr marL="198720" indent="-198720">
              <a:lnSpc>
                <a:spcPct val="90000"/>
              </a:lnSpc>
              <a:spcBef>
                <a:spcPts val="1001"/>
              </a:spcBef>
              <a:buClr>
                <a:srgbClr val="ee731a"/>
              </a:buClr>
              <a:buFont typeface="Arial"/>
              <a:buChar char="•"/>
            </a:pPr>
            <a:endParaRPr b="0" lang="en-US" sz="2100" spc="-1" strike="noStrike">
              <a:latin typeface="Arial"/>
            </a:endParaRPr>
          </a:p>
          <a:p>
            <a:pPr marL="198720" indent="-198720">
              <a:lnSpc>
                <a:spcPct val="90000"/>
              </a:lnSpc>
              <a:spcBef>
                <a:spcPts val="1001"/>
              </a:spcBef>
              <a:buClr>
                <a:srgbClr val="ee731a"/>
              </a:buClr>
              <a:buFont typeface="Arial"/>
              <a:buChar char="•"/>
            </a:pP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2 classes</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820 and 818 images of Animals and Humans respectively packed into batches of 32</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70/20/10% train/validation/test split</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Each image has been resized to 256x256 pixels</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The images are labeled 0 if there is no animal and 1 if there is one</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An Image from the ImSitu database and scraped DuckDuckGo images</a:t>
            </a:r>
            <a:endParaRPr b="0" lang="en-US" sz="2100" spc="-1" strike="noStrike">
              <a:latin typeface="Arial"/>
            </a:endParaRPr>
          </a:p>
          <a:p>
            <a:pPr>
              <a:lnSpc>
                <a:spcPct val="90000"/>
              </a:lnSpc>
              <a:spcBef>
                <a:spcPts val="1001"/>
              </a:spcBef>
              <a:buNone/>
            </a:pPr>
            <a:endParaRPr b="0" lang="en-US" sz="2100" spc="-1" strike="noStrike">
              <a:latin typeface="Arial"/>
            </a:endParaRPr>
          </a:p>
        </p:txBody>
      </p:sp>
      <p:sp>
        <p:nvSpPr>
          <p:cNvPr id="245" name="PlaceHolder 2"/>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US" sz="4400" spc="-1" strike="noStrike">
                <a:solidFill>
                  <a:srgbClr val="0e3d67"/>
                </a:solidFill>
                <a:latin typeface="Open Sans Semibold"/>
                <a:ea typeface="Open Sans Semibold"/>
              </a:rPr>
              <a:t>PoC: The dataset</a:t>
            </a:r>
            <a:endParaRPr b="0" lang="en-US" sz="4400" spc="-1" strike="noStrike">
              <a:latin typeface="Arial"/>
            </a:endParaRPr>
          </a:p>
        </p:txBody>
      </p:sp>
      <p:pic>
        <p:nvPicPr>
          <p:cNvPr id="246" name="" descr=""/>
          <p:cNvPicPr/>
          <p:nvPr/>
        </p:nvPicPr>
        <p:blipFill>
          <a:blip r:embed="rId1"/>
          <a:stretch/>
        </p:blipFill>
        <p:spPr>
          <a:xfrm>
            <a:off x="8686800" y="228600"/>
            <a:ext cx="3200400" cy="3273120"/>
          </a:xfrm>
          <a:prstGeom prst="rect">
            <a:avLst/>
          </a:prstGeom>
          <a:ln w="0">
            <a:noFill/>
          </a:ln>
        </p:spPr>
      </p:pic>
      <p:sp>
        <p:nvSpPr>
          <p:cNvPr id="4" name="PlaceHolder 3"/>
          <p:cNvSpPr>
            <a:spLocks noGrp="1"/>
          </p:cNvSpPr>
          <p:nvPr>
            <p:ph type="sldNum" idx="5"/>
          </p:nvPr>
        </p:nvSpPr>
        <p:spPr/>
        <p:txBody>
          <a:bodyPr/>
          <a:p>
            <a:fld id="{E18864CF-1F17-41A9-9E6F-B6FBE822FC64}"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p:nvPr>
        </p:nvSpPr>
        <p:spPr>
          <a:xfrm>
            <a:off x="537840" y="1471320"/>
            <a:ext cx="11143800" cy="4154040"/>
          </a:xfrm>
          <a:prstGeom prst="rect">
            <a:avLst/>
          </a:prstGeom>
          <a:noFill/>
          <a:ln w="0">
            <a:noFill/>
          </a:ln>
        </p:spPr>
        <p:txBody>
          <a:bodyPr lIns="90000" rIns="90000" tIns="45000" bIns="45000" anchor="t">
            <a:noAutofit/>
          </a:bodyPr>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Random guess accuracy: 50%</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Human-Level Performance: 100%</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Multilayer Perceptron accuracy: 72.5%</a:t>
            </a:r>
            <a:endParaRPr b="0" lang="en-US" sz="2100" spc="-1" strike="noStrike">
              <a:latin typeface="Arial"/>
            </a:endParaRPr>
          </a:p>
        </p:txBody>
      </p:sp>
      <p:sp>
        <p:nvSpPr>
          <p:cNvPr id="248" name="PlaceHolder 2"/>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US" sz="4400" spc="-1" strike="noStrike">
                <a:solidFill>
                  <a:srgbClr val="0e3d67"/>
                </a:solidFill>
                <a:latin typeface="Open Sans Semibold"/>
                <a:ea typeface="Open Sans Semibold"/>
              </a:rPr>
              <a:t>PoC: Baselines</a:t>
            </a:r>
            <a:endParaRPr b="0" lang="en-US" sz="4400" spc="-1" strike="noStrike">
              <a:latin typeface="Arial"/>
            </a:endParaRPr>
          </a:p>
          <a:p>
            <a:pPr>
              <a:lnSpc>
                <a:spcPct val="90000"/>
              </a:lnSpc>
              <a:buNone/>
            </a:pPr>
            <a:endParaRPr b="0" lang="en-US" sz="4400" spc="-1" strike="noStrike">
              <a:latin typeface="Arial"/>
            </a:endParaRPr>
          </a:p>
        </p:txBody>
      </p:sp>
      <p:sp>
        <p:nvSpPr>
          <p:cNvPr id="4" name="PlaceHolder 3"/>
          <p:cNvSpPr>
            <a:spLocks noGrp="1"/>
          </p:cNvSpPr>
          <p:nvPr>
            <p:ph type="sldNum" idx="5"/>
          </p:nvPr>
        </p:nvSpPr>
        <p:spPr/>
        <p:txBody>
          <a:bodyPr/>
          <a:p>
            <a:fld id="{FF556076-7481-4F86-84FB-74AB0BD44C63}"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p:nvPr>
        </p:nvSpPr>
        <p:spPr>
          <a:xfrm>
            <a:off x="537840" y="1471320"/>
            <a:ext cx="11143800" cy="4154040"/>
          </a:xfrm>
          <a:prstGeom prst="rect">
            <a:avLst/>
          </a:prstGeom>
          <a:noFill/>
          <a:ln w="0">
            <a:noFill/>
          </a:ln>
        </p:spPr>
        <p:txBody>
          <a:bodyPr lIns="90000" rIns="90000" tIns="45000" bIns="45000" anchor="t">
            <a:noAutofit/>
          </a:bodyPr>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The images were rescaled to 256x256 pixels.</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Corrupt images have been removed</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Images have been filtered and pictures containing humans have been equally distributed among all gender and races</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Data augmentation layers such as random horizontal flip and random rotation</a:t>
            </a:r>
            <a:endParaRPr b="0" lang="en-US" sz="21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250" name="PlaceHolder 2"/>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US" sz="4400" spc="-1" strike="noStrike">
                <a:solidFill>
                  <a:srgbClr val="0e3d67"/>
                </a:solidFill>
                <a:latin typeface="Open Sans Semibold"/>
                <a:ea typeface="Open Sans Semibold"/>
              </a:rPr>
              <a:t>PoC: Preprocessing</a:t>
            </a:r>
            <a:endParaRPr b="0" lang="en-US" sz="4400" spc="-1" strike="noStrike">
              <a:latin typeface="Arial"/>
            </a:endParaRPr>
          </a:p>
        </p:txBody>
      </p:sp>
      <p:sp>
        <p:nvSpPr>
          <p:cNvPr id="4" name="PlaceHolder 3"/>
          <p:cNvSpPr>
            <a:spLocks noGrp="1"/>
          </p:cNvSpPr>
          <p:nvPr>
            <p:ph type="sldNum" idx="5"/>
          </p:nvPr>
        </p:nvSpPr>
        <p:spPr/>
        <p:txBody>
          <a:bodyPr/>
          <a:p>
            <a:fld id="{31CAB0C5-63DB-4F19-BFA6-38111F397649}"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537840" y="412560"/>
            <a:ext cx="4084920" cy="866520"/>
          </a:xfrm>
          <a:prstGeom prst="rect">
            <a:avLst/>
          </a:prstGeom>
          <a:noFill/>
          <a:ln w="0">
            <a:noFill/>
          </a:ln>
        </p:spPr>
        <p:txBody>
          <a:bodyPr lIns="0" rIns="0" tIns="0" bIns="0" anchor="t">
            <a:noAutofit/>
          </a:bodyPr>
          <a:p>
            <a:pPr>
              <a:lnSpc>
                <a:spcPct val="90000"/>
              </a:lnSpc>
              <a:buNone/>
            </a:pPr>
            <a:r>
              <a:rPr b="0" lang="en-US" sz="4400" spc="-1" strike="noStrike">
                <a:solidFill>
                  <a:srgbClr val="0e3d67"/>
                </a:solidFill>
                <a:latin typeface="Open Sans Semibold"/>
                <a:ea typeface="Open Sans Semibold"/>
              </a:rPr>
              <a:t>PoC: CNN </a:t>
            </a:r>
            <a:br>
              <a:rPr sz="4400"/>
            </a:br>
            <a:r>
              <a:rPr b="0" lang="en-US" sz="4400" spc="-1" strike="noStrike">
                <a:solidFill>
                  <a:srgbClr val="0e3d67"/>
                </a:solidFill>
                <a:latin typeface="Open Sans Semibold"/>
                <a:ea typeface="Open Sans Semibold"/>
              </a:rPr>
              <a:t>architecture</a:t>
            </a:r>
            <a:endParaRPr b="0" lang="en-US" sz="4400" spc="-1" strike="noStrike">
              <a:latin typeface="Arial"/>
            </a:endParaRPr>
          </a:p>
        </p:txBody>
      </p:sp>
      <p:pic>
        <p:nvPicPr>
          <p:cNvPr id="252" name="" descr=""/>
          <p:cNvPicPr/>
          <p:nvPr/>
        </p:nvPicPr>
        <p:blipFill>
          <a:blip r:embed="rId1"/>
          <a:stretch/>
        </p:blipFill>
        <p:spPr>
          <a:xfrm>
            <a:off x="8439480" y="29880"/>
            <a:ext cx="3675960" cy="6141960"/>
          </a:xfrm>
          <a:prstGeom prst="rect">
            <a:avLst/>
          </a:prstGeom>
          <a:ln w="0">
            <a:noFill/>
          </a:ln>
        </p:spPr>
      </p:pic>
      <p:sp>
        <p:nvSpPr>
          <p:cNvPr id="253" name=""/>
          <p:cNvSpPr txBox="1"/>
          <p:nvPr/>
        </p:nvSpPr>
        <p:spPr>
          <a:xfrm>
            <a:off x="457200" y="2057400"/>
            <a:ext cx="7086600" cy="1114200"/>
          </a:xfrm>
          <a:prstGeom prst="rect">
            <a:avLst/>
          </a:prstGeom>
          <a:noFill/>
          <a:ln w="0">
            <a:noFill/>
          </a:ln>
        </p:spPr>
        <p:txBody>
          <a:bodyPr lIns="90000" rIns="90000" tIns="45000" bIns="45000" anchor="t">
            <a:noAutofit/>
          </a:bodyPr>
          <a:p>
            <a:r>
              <a:rPr b="0" lang="en-US" sz="1800" spc="-1" strike="noStrike">
                <a:latin typeface="Arial"/>
              </a:rPr>
              <a:t>Transfer learning has been used with 4 convolutional layers, 3 batch normalization layers, 4 Maxpooling layers, 1 flatten layer, 1 dropout layer and a single output neuron</a:t>
            </a:r>
            <a:endParaRPr b="0" lang="en-US" sz="1800" spc="-1" strike="noStrike">
              <a:latin typeface="Arial"/>
            </a:endParaRPr>
          </a:p>
        </p:txBody>
      </p:sp>
      <p:sp>
        <p:nvSpPr>
          <p:cNvPr id="3" name="PlaceHolder 2"/>
          <p:cNvSpPr>
            <a:spLocks noGrp="1"/>
          </p:cNvSpPr>
          <p:nvPr>
            <p:ph type="sldNum" idx="5"/>
          </p:nvPr>
        </p:nvSpPr>
        <p:spPr/>
        <p:txBody>
          <a:bodyPr/>
          <a:p>
            <a:fld id="{4E5AD3AF-4634-4086-9CB2-466248C521B1}"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p:nvPr>
        </p:nvSpPr>
        <p:spPr>
          <a:xfrm>
            <a:off x="537120" y="1539000"/>
            <a:ext cx="5389200" cy="4225680"/>
          </a:xfrm>
          <a:prstGeom prst="rect">
            <a:avLst/>
          </a:prstGeom>
          <a:noFill/>
          <a:ln w="0">
            <a:noFill/>
          </a:ln>
        </p:spPr>
        <p:txBody>
          <a:bodyPr lIns="90000" rIns="90000" tIns="45000" bIns="45000" anchor="t">
            <a:noAutofit/>
          </a:bodyPr>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The model uses binary_crossentropy as a loss function since it is a binary classification problem</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Adam optimizer has been used as it has a very good overall performance</a:t>
            </a:r>
            <a:endParaRPr b="0" lang="en-US" sz="2100" spc="-1" strike="noStrike">
              <a:latin typeface="Arial"/>
            </a:endParaRPr>
          </a:p>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Apart from validation loss, accuracy and precision were used as an overall additional metric to check how well the model distinguishes animals from different pictures</a:t>
            </a:r>
            <a:endParaRPr b="0" lang="en-US" sz="2100" spc="-1" strike="noStrike">
              <a:latin typeface="Arial"/>
            </a:endParaRPr>
          </a:p>
        </p:txBody>
      </p:sp>
      <p:sp>
        <p:nvSpPr>
          <p:cNvPr id="255" name="PlaceHolder 2"/>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US" sz="4400" spc="-1" strike="noStrike">
                <a:solidFill>
                  <a:srgbClr val="0e3d67"/>
                </a:solidFill>
                <a:latin typeface="Open Sans Semibold"/>
                <a:ea typeface="Open Sans Semibold"/>
              </a:rPr>
              <a:t>PoC: CNN training</a:t>
            </a:r>
            <a:endParaRPr b="0" lang="en-US" sz="4400" spc="-1" strike="noStrike">
              <a:latin typeface="Arial"/>
            </a:endParaRPr>
          </a:p>
        </p:txBody>
      </p:sp>
      <p:pic>
        <p:nvPicPr>
          <p:cNvPr id="256" name="" descr=""/>
          <p:cNvPicPr/>
          <p:nvPr/>
        </p:nvPicPr>
        <p:blipFill>
          <a:blip r:embed="rId1"/>
          <a:stretch/>
        </p:blipFill>
        <p:spPr>
          <a:xfrm>
            <a:off x="9144000" y="2514600"/>
            <a:ext cx="2893680" cy="2286000"/>
          </a:xfrm>
          <a:prstGeom prst="rect">
            <a:avLst/>
          </a:prstGeom>
          <a:ln w="0">
            <a:noFill/>
          </a:ln>
        </p:spPr>
      </p:pic>
      <p:pic>
        <p:nvPicPr>
          <p:cNvPr id="257" name="" descr=""/>
          <p:cNvPicPr/>
          <p:nvPr/>
        </p:nvPicPr>
        <p:blipFill>
          <a:blip r:embed="rId2"/>
          <a:stretch/>
        </p:blipFill>
        <p:spPr>
          <a:xfrm>
            <a:off x="9144000" y="228600"/>
            <a:ext cx="2889360" cy="2286000"/>
          </a:xfrm>
          <a:prstGeom prst="rect">
            <a:avLst/>
          </a:prstGeom>
          <a:ln w="0">
            <a:noFill/>
          </a:ln>
        </p:spPr>
      </p:pic>
      <p:pic>
        <p:nvPicPr>
          <p:cNvPr id="258" name="" descr=""/>
          <p:cNvPicPr/>
          <p:nvPr/>
        </p:nvPicPr>
        <p:blipFill>
          <a:blip r:embed="rId3"/>
          <a:stretch/>
        </p:blipFill>
        <p:spPr>
          <a:xfrm>
            <a:off x="6254640" y="228600"/>
            <a:ext cx="2889360" cy="2286000"/>
          </a:xfrm>
          <a:prstGeom prst="rect">
            <a:avLst/>
          </a:prstGeom>
          <a:ln w="0">
            <a:noFill/>
          </a:ln>
        </p:spPr>
      </p:pic>
      <p:sp>
        <p:nvSpPr>
          <p:cNvPr id="4" name="PlaceHolder 3"/>
          <p:cNvSpPr>
            <a:spLocks noGrp="1"/>
          </p:cNvSpPr>
          <p:nvPr>
            <p:ph type="sldNum" idx="11"/>
          </p:nvPr>
        </p:nvSpPr>
        <p:spPr/>
        <p:txBody>
          <a:bodyPr/>
          <a:p>
            <a:fld id="{E745B2AC-EDB1-4320-81BE-A4D294A419CD}"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US" sz="4400" spc="-1" strike="noStrike">
                <a:solidFill>
                  <a:srgbClr val="0e3d67"/>
                </a:solidFill>
                <a:latin typeface="Open Sans Semibold"/>
                <a:ea typeface="Open Sans Semibold"/>
              </a:rPr>
              <a:t>PoC: Model performance</a:t>
            </a:r>
            <a:endParaRPr b="0" lang="en-US" sz="4400" spc="-1" strike="noStrike">
              <a:latin typeface="Arial"/>
            </a:endParaRPr>
          </a:p>
        </p:txBody>
      </p:sp>
      <p:sp>
        <p:nvSpPr>
          <p:cNvPr id="260" name=""/>
          <p:cNvSpPr/>
          <p:nvPr/>
        </p:nvSpPr>
        <p:spPr>
          <a:xfrm>
            <a:off x="537840" y="1143000"/>
            <a:ext cx="7691400" cy="3459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latin typeface="Arial"/>
              </a:rPr>
              <a:t>Loss: 0.00079993, accuracy: 1.0000, precision: 1.0000</a:t>
            </a:r>
            <a:endParaRPr b="0" lang="en-US" sz="1800" spc="-1" strike="noStrike">
              <a:latin typeface="Arial"/>
            </a:endParaRPr>
          </a:p>
        </p:txBody>
      </p:sp>
      <p:pic>
        <p:nvPicPr>
          <p:cNvPr id="261" name="" descr=""/>
          <p:cNvPicPr/>
          <p:nvPr/>
        </p:nvPicPr>
        <p:blipFill>
          <a:blip r:embed="rId1"/>
          <a:stretch/>
        </p:blipFill>
        <p:spPr>
          <a:xfrm>
            <a:off x="7086600" y="1488960"/>
            <a:ext cx="4047480" cy="4114800"/>
          </a:xfrm>
          <a:prstGeom prst="rect">
            <a:avLst/>
          </a:prstGeom>
          <a:ln w="0">
            <a:noFill/>
          </a:ln>
        </p:spPr>
      </p:pic>
      <p:sp>
        <p:nvSpPr>
          <p:cNvPr id="3" name="PlaceHolder 2"/>
          <p:cNvSpPr>
            <a:spLocks noGrp="1"/>
          </p:cNvSpPr>
          <p:nvPr>
            <p:ph type="sldNum" idx="5"/>
          </p:nvPr>
        </p:nvSpPr>
        <p:spPr/>
        <p:txBody>
          <a:bodyPr/>
          <a:p>
            <a:fld id="{462C3F1E-9051-4726-A9A6-08AC65893380}"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GB" sz="4400" spc="-1" strike="noStrike">
                <a:solidFill>
                  <a:srgbClr val="0e3d67"/>
                </a:solidFill>
                <a:latin typeface="Open Sans Semibold"/>
                <a:ea typeface="Open Sans Semibold"/>
              </a:rPr>
              <a:t>PoC: Best CNN from scratch Model</a:t>
            </a:r>
            <a:endParaRPr b="0" lang="en-US" sz="4400" spc="-1" strike="noStrike">
              <a:latin typeface="Arial"/>
            </a:endParaRPr>
          </a:p>
        </p:txBody>
      </p:sp>
      <p:sp>
        <p:nvSpPr>
          <p:cNvPr id="3" name="PlaceHolder 2"/>
          <p:cNvSpPr>
            <a:spLocks noGrp="1"/>
          </p:cNvSpPr>
          <p:nvPr>
            <p:ph type="sldNum" idx="5"/>
          </p:nvPr>
        </p:nvSpPr>
        <p:spPr/>
        <p:txBody>
          <a:bodyPr/>
          <a:p>
            <a:fld id="{7C817365-D3E3-4A81-90F0-52E8748BD7E2}"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US" sz="4400" spc="-1" strike="noStrike">
                <a:solidFill>
                  <a:srgbClr val="0e3d67"/>
                </a:solidFill>
                <a:latin typeface="Open Sans Semibold"/>
                <a:ea typeface="Open Sans Semibold"/>
              </a:rPr>
              <a:t>PoC: Error analysis</a:t>
            </a:r>
            <a:endParaRPr b="0" lang="en-US" sz="4400" spc="-1" strike="noStrike">
              <a:latin typeface="Arial"/>
            </a:endParaRPr>
          </a:p>
        </p:txBody>
      </p:sp>
      <p:sp>
        <p:nvSpPr>
          <p:cNvPr id="264" name="TextBox 5"/>
          <p:cNvSpPr/>
          <p:nvPr/>
        </p:nvSpPr>
        <p:spPr>
          <a:xfrm>
            <a:off x="333360" y="1739160"/>
            <a:ext cx="5285160" cy="1689840"/>
          </a:xfrm>
          <a:prstGeom prst="rect">
            <a:avLst/>
          </a:prstGeom>
          <a:noFill/>
          <a:ln w="0">
            <a:noFill/>
          </a:ln>
        </p:spPr>
        <p:style>
          <a:lnRef idx="0"/>
          <a:fillRef idx="0"/>
          <a:effectRef idx="0"/>
          <a:fontRef idx="minor"/>
        </p:style>
        <p:txBody>
          <a:bodyPr numCol="1" spcCol="0" lIns="90000" rIns="90000" tIns="45000" bIns="45000" anchor="t">
            <a:spAutoFit/>
          </a:bodyPr>
          <a:p>
            <a:pPr marL="285840" indent="-285840">
              <a:lnSpc>
                <a:spcPct val="100000"/>
              </a:lnSpc>
              <a:buClr>
                <a:srgbClr val="000000"/>
              </a:buClr>
              <a:buFont typeface="Arial"/>
              <a:buChar char="•"/>
            </a:pPr>
            <a:r>
              <a:rPr b="0" lang="en-GB" sz="2100" spc="-1" strike="noStrike">
                <a:solidFill>
                  <a:srgbClr val="000000"/>
                </a:solidFill>
                <a:latin typeface="Open Sans"/>
                <a:ea typeface="Open Sans"/>
              </a:rPr>
              <a:t>The model is accurate at detecting animals on images it didn’t see douring training</a:t>
            </a:r>
            <a:endParaRPr b="0" lang="en-US" sz="2100" spc="-1" strike="noStrike">
              <a:latin typeface="Arial"/>
            </a:endParaRPr>
          </a:p>
          <a:p>
            <a:pPr marL="285840" indent="-285840">
              <a:lnSpc>
                <a:spcPct val="100000"/>
              </a:lnSpc>
              <a:buClr>
                <a:srgbClr val="000000"/>
              </a:buClr>
              <a:buFont typeface="Arial"/>
              <a:buChar char="•"/>
            </a:pPr>
            <a:r>
              <a:rPr b="0" lang="en-GB" sz="2100" spc="-1" strike="noStrike">
                <a:solidFill>
                  <a:srgbClr val="000000"/>
                </a:solidFill>
                <a:latin typeface="Open Sans"/>
                <a:ea typeface="Open Sans"/>
              </a:rPr>
              <a:t>Modle focuses on nose, eyes, fur and ears</a:t>
            </a:r>
            <a:endParaRPr b="0" lang="en-US" sz="2100" spc="-1" strike="noStrike">
              <a:latin typeface="Arial"/>
            </a:endParaRPr>
          </a:p>
        </p:txBody>
      </p:sp>
      <p:pic>
        <p:nvPicPr>
          <p:cNvPr id="265" name="" descr=""/>
          <p:cNvPicPr/>
          <p:nvPr/>
        </p:nvPicPr>
        <p:blipFill>
          <a:blip r:embed="rId1"/>
          <a:stretch/>
        </p:blipFill>
        <p:spPr>
          <a:xfrm>
            <a:off x="7611120" y="1488960"/>
            <a:ext cx="4047480" cy="4114800"/>
          </a:xfrm>
          <a:prstGeom prst="rect">
            <a:avLst/>
          </a:prstGeom>
          <a:ln w="0">
            <a:noFill/>
          </a:ln>
        </p:spPr>
      </p:pic>
      <p:sp>
        <p:nvSpPr>
          <p:cNvPr id="3" name="PlaceHolder 2"/>
          <p:cNvSpPr>
            <a:spLocks noGrp="1"/>
          </p:cNvSpPr>
          <p:nvPr>
            <p:ph type="sldNum" idx="5"/>
          </p:nvPr>
        </p:nvSpPr>
        <p:spPr/>
        <p:txBody>
          <a:bodyPr/>
          <a:p>
            <a:fld id="{F2CBCA0F-FC04-4D12-85F5-BD9672B74B76}"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p:nvPr>
        </p:nvSpPr>
        <p:spPr>
          <a:xfrm>
            <a:off x="537840" y="1471320"/>
            <a:ext cx="11143800" cy="41540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100" spc="-1" strike="noStrike">
                <a:solidFill>
                  <a:srgbClr val="000000"/>
                </a:solidFill>
                <a:latin typeface="Open Sans"/>
                <a:ea typeface="Open Sans"/>
              </a:rPr>
              <a:t>You have described your finalized model. Explain how you got here from the very first model you created. Describe a minimum of two iterations you did.</a:t>
            </a:r>
            <a:endParaRPr b="0" lang="en-US" sz="2100" spc="-1" strike="noStrike">
              <a:latin typeface="Arial"/>
            </a:endParaRPr>
          </a:p>
          <a:p>
            <a:pPr>
              <a:lnSpc>
                <a:spcPct val="90000"/>
              </a:lnSpc>
              <a:spcBef>
                <a:spcPts val="1001"/>
              </a:spcBef>
              <a:buNone/>
              <a:tabLst>
                <a:tab algn="l" pos="0"/>
              </a:tabLst>
            </a:pPr>
            <a:endParaRPr b="0" lang="en-US" sz="2100" spc="-1" strike="noStrike">
              <a:latin typeface="Arial"/>
            </a:endParaRPr>
          </a:p>
          <a:p>
            <a:pPr marL="198720" indent="-198720">
              <a:lnSpc>
                <a:spcPct val="90000"/>
              </a:lnSpc>
              <a:spcBef>
                <a:spcPts val="1001"/>
              </a:spcBef>
              <a:buClr>
                <a:srgbClr val="ee731a"/>
              </a:buClr>
              <a:buFont typeface="Arial"/>
              <a:buChar char="•"/>
              <a:tabLst>
                <a:tab algn="l" pos="0"/>
              </a:tabLst>
            </a:pPr>
            <a:r>
              <a:rPr b="0" lang="en-US" sz="2100" spc="-1" strike="noStrike">
                <a:solidFill>
                  <a:srgbClr val="000000"/>
                </a:solidFill>
                <a:latin typeface="Open Sans"/>
                <a:ea typeface="Open Sans"/>
              </a:rPr>
              <a:t>First model had data agumentatio, 4 convolutional leyers, 4 max pooling layers , dropout layer and dense sigmoid activated layer</a:t>
            </a:r>
            <a:endParaRPr b="0" lang="en-US" sz="2100" spc="-1" strike="noStrike">
              <a:latin typeface="Arial"/>
            </a:endParaRPr>
          </a:p>
          <a:p>
            <a:pPr marL="198720" indent="-198720">
              <a:lnSpc>
                <a:spcPct val="90000"/>
              </a:lnSpc>
              <a:spcBef>
                <a:spcPts val="1001"/>
              </a:spcBef>
              <a:buClr>
                <a:srgbClr val="ee731a"/>
              </a:buClr>
              <a:buFont typeface="Arial"/>
              <a:buChar char="•"/>
              <a:tabLst>
                <a:tab algn="l" pos="0"/>
              </a:tabLst>
            </a:pPr>
            <a:r>
              <a:rPr b="0" lang="en-US" sz="2100" spc="-1" strike="noStrike">
                <a:solidFill>
                  <a:srgbClr val="000000"/>
                </a:solidFill>
                <a:latin typeface="Open Sans"/>
                <a:ea typeface="Open Sans"/>
              </a:rPr>
              <a:t> </a:t>
            </a:r>
            <a:endParaRPr b="0" lang="en-US" sz="2100" spc="-1" strike="noStrike">
              <a:latin typeface="Arial"/>
            </a:endParaRPr>
          </a:p>
        </p:txBody>
      </p:sp>
      <p:sp>
        <p:nvSpPr>
          <p:cNvPr id="267" name="PlaceHolder 2"/>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GB" sz="4400" spc="-1" strike="noStrike">
                <a:solidFill>
                  <a:srgbClr val="0e3d67"/>
                </a:solidFill>
                <a:latin typeface="Open Sans Semibold"/>
                <a:ea typeface="Open Sans Semibold"/>
              </a:rPr>
              <a:t>PoC: Iteration</a:t>
            </a:r>
            <a:endParaRPr b="0" lang="en-US" sz="4400" spc="-1" strike="noStrike">
              <a:latin typeface="Arial"/>
            </a:endParaRPr>
          </a:p>
          <a:p>
            <a:pPr>
              <a:lnSpc>
                <a:spcPct val="90000"/>
              </a:lnSpc>
              <a:buNone/>
            </a:pPr>
            <a:endParaRPr b="0" lang="en-US" sz="4400" spc="-1" strike="noStrike">
              <a:latin typeface="Arial"/>
            </a:endParaRPr>
          </a:p>
        </p:txBody>
      </p:sp>
      <p:sp>
        <p:nvSpPr>
          <p:cNvPr id="4" name="PlaceHolder 3"/>
          <p:cNvSpPr>
            <a:spLocks noGrp="1"/>
          </p:cNvSpPr>
          <p:nvPr>
            <p:ph type="sldNum" idx="5"/>
          </p:nvPr>
        </p:nvSpPr>
        <p:spPr/>
        <p:txBody>
          <a:bodyPr/>
          <a:p>
            <a:fld id="{2F53AC3F-55E6-4195-A0D2-53381E816FCB}"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en-GB" sz="4400" spc="-1" strike="noStrike">
                <a:solidFill>
                  <a:srgbClr val="0e3d67"/>
                </a:solidFill>
                <a:latin typeface="Open Sans Semibold"/>
                <a:ea typeface="Open Sans Semibold"/>
              </a:rPr>
              <a:t>PoC: Transfer Learning Model</a:t>
            </a:r>
            <a:endParaRPr b="0" lang="en-US" sz="4400" spc="-1" strike="noStrike">
              <a:latin typeface="Arial"/>
            </a:endParaRPr>
          </a:p>
        </p:txBody>
      </p:sp>
      <p:pic>
        <p:nvPicPr>
          <p:cNvPr id="269" name="" descr=""/>
          <p:cNvPicPr/>
          <p:nvPr/>
        </p:nvPicPr>
        <p:blipFill>
          <a:blip r:embed="rId1"/>
          <a:stretch/>
        </p:blipFill>
        <p:spPr>
          <a:xfrm>
            <a:off x="8771760" y="228600"/>
            <a:ext cx="3420360" cy="5715000"/>
          </a:xfrm>
          <a:prstGeom prst="rect">
            <a:avLst/>
          </a:prstGeom>
          <a:ln w="0">
            <a:noFill/>
          </a:ln>
        </p:spPr>
      </p:pic>
      <p:sp>
        <p:nvSpPr>
          <p:cNvPr id="270" name=""/>
          <p:cNvSpPr txBox="1"/>
          <p:nvPr/>
        </p:nvSpPr>
        <p:spPr>
          <a:xfrm>
            <a:off x="685800" y="1600200"/>
            <a:ext cx="6526800" cy="858240"/>
          </a:xfrm>
          <a:prstGeom prst="rect">
            <a:avLst/>
          </a:prstGeom>
          <a:noFill/>
          <a:ln w="0">
            <a:noFill/>
          </a:ln>
        </p:spPr>
        <p:txBody>
          <a:bodyPr lIns="90000" rIns="90000" tIns="45000" bIns="45000" anchor="t">
            <a:noAutofit/>
          </a:bodyPr>
          <a:p>
            <a:r>
              <a:rPr b="0" lang="en-US" sz="1800" spc="-1" strike="noStrike">
                <a:latin typeface="Arial"/>
              </a:rPr>
              <a:t>Transfer learning has been used with 4 convolutional layers, 3 batch normalization layers, 4 Maxpooling layers, 1 flatten layer, 1 dropout layer and a single output neuron</a:t>
            </a:r>
            <a:endParaRPr b="0" lang="en-US" sz="1800" spc="-1" strike="noStrike">
              <a:latin typeface="Arial"/>
            </a:endParaRPr>
          </a:p>
        </p:txBody>
      </p:sp>
      <p:sp>
        <p:nvSpPr>
          <p:cNvPr id="3" name="PlaceHolder 2"/>
          <p:cNvSpPr>
            <a:spLocks noGrp="1"/>
          </p:cNvSpPr>
          <p:nvPr>
            <p:ph type="sldNum" idx="5"/>
          </p:nvPr>
        </p:nvSpPr>
        <p:spPr/>
        <p:txBody>
          <a:bodyPr/>
          <a:p>
            <a:fld id="{612850C6-81DD-4F70-93D2-C1798BBC0B20}"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p:nvPr>
        </p:nvSpPr>
        <p:spPr>
          <a:xfrm>
            <a:off x="537840" y="139932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3000" spc="-1" strike="noStrike">
                <a:solidFill>
                  <a:srgbClr val="00b7ee"/>
                </a:solidFill>
                <a:latin typeface="Open Sans SemiBold"/>
                <a:ea typeface="Open Sans SemiBold"/>
              </a:rPr>
              <a:t>Bias, fairness, transparency and interpretability</a:t>
            </a:r>
            <a:endParaRPr b="0" lang="en-US" sz="3000" spc="-1" strike="noStrike">
              <a:latin typeface="Arial"/>
            </a:endParaRPr>
          </a:p>
        </p:txBody>
      </p:sp>
      <p:sp>
        <p:nvSpPr>
          <p:cNvPr id="272" name="PlaceHolder 2"/>
          <p:cNvSpPr>
            <a:spLocks noGrp="1"/>
          </p:cNvSpPr>
          <p:nvPr>
            <p:ph/>
          </p:nvPr>
        </p:nvSpPr>
        <p:spPr>
          <a:xfrm>
            <a:off x="537840" y="1881720"/>
            <a:ext cx="11143800" cy="373464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1" lang="en-GB" sz="2100" spc="-1" strike="noStrike">
                <a:solidFill>
                  <a:srgbClr val="000000"/>
                </a:solidFill>
                <a:latin typeface="Open Sans"/>
                <a:ea typeface="Open Sans"/>
              </a:rPr>
              <a:t>ILO Mapping:</a:t>
            </a:r>
            <a:endParaRPr b="0" lang="en-US" sz="2100" spc="-1" strike="noStrike">
              <a:latin typeface="Arial"/>
            </a:endParaRPr>
          </a:p>
          <a:p>
            <a:pPr marL="198720" indent="-198720">
              <a:lnSpc>
                <a:spcPct val="90000"/>
              </a:lnSpc>
              <a:spcBef>
                <a:spcPts val="1001"/>
              </a:spcBef>
              <a:buClr>
                <a:srgbClr val="ee731a"/>
              </a:buClr>
              <a:buFont typeface="Arial"/>
              <a:buChar char="•"/>
              <a:tabLst>
                <a:tab algn="l" pos="0"/>
              </a:tabLst>
            </a:pPr>
            <a:r>
              <a:rPr b="0" lang="en-GB" sz="2100" spc="-1" strike="noStrike">
                <a:solidFill>
                  <a:srgbClr val="000000"/>
                </a:solidFill>
                <a:latin typeface="Open Sans"/>
                <a:ea typeface="Open Sans"/>
              </a:rPr>
              <a:t>(Partially) ‘Sufficient’, and ‘Good’ criteria of ILO 3.1.</a:t>
            </a:r>
            <a:endParaRPr b="0" lang="en-US" sz="2100" spc="-1" strike="noStrike">
              <a:latin typeface="Arial"/>
            </a:endParaRPr>
          </a:p>
          <a:p>
            <a:pPr marL="198720" indent="-198720">
              <a:lnSpc>
                <a:spcPct val="90000"/>
              </a:lnSpc>
              <a:spcBef>
                <a:spcPts val="1001"/>
              </a:spcBef>
              <a:buNone/>
              <a:tabLst>
                <a:tab algn="l" pos="0"/>
              </a:tabLst>
            </a:pPr>
            <a:r>
              <a:rPr b="1" lang="en-GB" sz="2100" spc="-1" strike="noStrike">
                <a:solidFill>
                  <a:srgbClr val="000000"/>
                </a:solidFill>
                <a:latin typeface="Open Sans"/>
                <a:ea typeface="Open Sans"/>
              </a:rPr>
              <a:t>Requirements:</a:t>
            </a:r>
            <a:endParaRPr b="0" lang="en-US" sz="2100" spc="-1" strike="noStrike">
              <a:latin typeface="Arial"/>
            </a:endParaRPr>
          </a:p>
          <a:p>
            <a:pPr marL="198720" indent="-198720">
              <a:lnSpc>
                <a:spcPct val="90000"/>
              </a:lnSpc>
              <a:spcBef>
                <a:spcPts val="1001"/>
              </a:spcBef>
              <a:buClr>
                <a:srgbClr val="ee731a"/>
              </a:buClr>
              <a:buFont typeface="Arial"/>
              <a:buChar char="•"/>
              <a:tabLst>
                <a:tab algn="l" pos="0"/>
              </a:tabLst>
            </a:pPr>
            <a:r>
              <a:rPr b="0" lang="en-GB" sz="2100" spc="-1" strike="noStrike">
                <a:solidFill>
                  <a:srgbClr val="000000"/>
                </a:solidFill>
                <a:latin typeface="Open Sans"/>
                <a:ea typeface="Open Sans"/>
              </a:rPr>
              <a:t>Discuss the trade-off between accuracy and interpretability of your AI model </a:t>
            </a:r>
            <a:r>
              <a:rPr b="0" lang="en-GB" sz="2100" spc="-1" strike="noStrike">
                <a:solidFill>
                  <a:srgbClr val="000000"/>
                </a:solidFill>
                <a:latin typeface="Open Sans"/>
                <a:ea typeface="Open Sans"/>
              </a:rPr>
              <a:t>(applied to the Creative Brief) </a:t>
            </a:r>
            <a:endParaRPr b="0" lang="en-US" sz="2100" spc="-1" strike="noStrike">
              <a:latin typeface="Arial"/>
            </a:endParaRPr>
          </a:p>
          <a:p>
            <a:pPr marL="198720" indent="-198720">
              <a:lnSpc>
                <a:spcPct val="90000"/>
              </a:lnSpc>
              <a:spcBef>
                <a:spcPts val="1001"/>
              </a:spcBef>
              <a:buClr>
                <a:srgbClr val="ee731a"/>
              </a:buClr>
              <a:buFont typeface="Arial"/>
              <a:buChar char="•"/>
              <a:tabLst>
                <a:tab algn="l" pos="0"/>
              </a:tabLst>
            </a:pPr>
            <a:r>
              <a:rPr b="0" lang="en-GB" sz="2100" spc="-1" strike="noStrike">
                <a:solidFill>
                  <a:srgbClr val="000000"/>
                </a:solidFill>
                <a:latin typeface="Open Sans"/>
                <a:ea typeface="Open Sans"/>
              </a:rPr>
              <a:t>Develop an AI model that balances accuracy and interpretability (applied to the </a:t>
            </a:r>
            <a:r>
              <a:rPr b="0" lang="en-GB" sz="2100" spc="-1" strike="noStrike">
                <a:solidFill>
                  <a:srgbClr val="000000"/>
                </a:solidFill>
                <a:latin typeface="Open Sans"/>
                <a:ea typeface="Open Sans"/>
              </a:rPr>
              <a:t>Creative Brief)</a:t>
            </a:r>
            <a:endParaRPr b="0" lang="en-US" sz="21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273" name="PlaceHolder 3"/>
          <p:cNvSpPr>
            <a:spLocks noGrp="1"/>
          </p:cNvSpPr>
          <p:nvPr>
            <p:ph type="title"/>
          </p:nvPr>
        </p:nvSpPr>
        <p:spPr>
          <a:xfrm>
            <a:off x="537840" y="412560"/>
            <a:ext cx="11533320" cy="866520"/>
          </a:xfrm>
          <a:prstGeom prst="rect">
            <a:avLst/>
          </a:prstGeom>
          <a:noFill/>
          <a:ln w="0">
            <a:noFill/>
          </a:ln>
        </p:spPr>
        <p:txBody>
          <a:bodyPr lIns="0" rIns="0" tIns="0" bIns="0" anchor="t">
            <a:noAutofit/>
          </a:bodyPr>
          <a:p>
            <a:pPr>
              <a:lnSpc>
                <a:spcPct val="90000"/>
              </a:lnSpc>
              <a:buNone/>
            </a:pPr>
            <a:r>
              <a:rPr b="0" lang="en-NL" sz="3800" spc="-1" strike="noStrike">
                <a:solidFill>
                  <a:srgbClr val="0e3d67"/>
                </a:solidFill>
                <a:latin typeface="Open Sans Semibold"/>
                <a:ea typeface="Open Sans Semibold"/>
              </a:rPr>
              <a:t>Responsible AI (Transparency &amp; Interpretability)</a:t>
            </a:r>
            <a:endParaRPr b="0" lang="en-US" sz="3800" spc="-1" strike="noStrike">
              <a:latin typeface="Arial"/>
            </a:endParaRPr>
          </a:p>
        </p:txBody>
      </p:sp>
      <p:sp>
        <p:nvSpPr>
          <p:cNvPr id="5" name="PlaceHolder 4"/>
          <p:cNvSpPr>
            <a:spLocks noGrp="1"/>
          </p:cNvSpPr>
          <p:nvPr>
            <p:ph type="sldNum" idx="8"/>
          </p:nvPr>
        </p:nvSpPr>
        <p:spPr/>
        <p:txBody>
          <a:bodyPr/>
          <a:p>
            <a:fld id="{EFC85DCF-5DF8-4B1F-AC44-940309C1BF87}"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p:nvPr>
        </p:nvSpPr>
        <p:spPr>
          <a:xfrm>
            <a:off x="527400" y="1279800"/>
            <a:ext cx="11143800" cy="3734640"/>
          </a:xfrm>
          <a:prstGeom prst="rect">
            <a:avLst/>
          </a:prstGeom>
          <a:noFill/>
          <a:ln w="0">
            <a:noFill/>
          </a:ln>
        </p:spPr>
        <p:txBody>
          <a:bodyPr lIns="90000" rIns="90000" tIns="45000" bIns="45000" anchor="t">
            <a:noAutofit/>
          </a:bodyPr>
          <a:p>
            <a:pPr marL="198720" indent="-198720">
              <a:lnSpc>
                <a:spcPct val="90000"/>
              </a:lnSpc>
              <a:spcBef>
                <a:spcPts val="1001"/>
              </a:spcBef>
              <a:buClr>
                <a:srgbClr val="ee731a"/>
              </a:buClr>
              <a:buFont typeface="Arial"/>
              <a:buChar char="•"/>
            </a:pPr>
            <a:r>
              <a:rPr b="0" lang="en-NL" sz="2100" spc="-1" strike="noStrike">
                <a:solidFill>
                  <a:srgbClr val="000000"/>
                </a:solidFill>
                <a:latin typeface="Open Sans"/>
                <a:ea typeface="Open Sans"/>
              </a:rPr>
              <a:t>AI Canvas</a:t>
            </a:r>
            <a:endParaRPr b="0" lang="en-US" sz="2100" spc="-1" strike="noStrike">
              <a:latin typeface="Arial"/>
            </a:endParaRPr>
          </a:p>
          <a:p>
            <a:pPr lvl="1" marL="685800" indent="-228600">
              <a:lnSpc>
                <a:spcPct val="90000"/>
              </a:lnSpc>
              <a:spcBef>
                <a:spcPts val="499"/>
              </a:spcBef>
              <a:buClr>
                <a:srgbClr val="000000"/>
              </a:buClr>
              <a:buFont typeface="Arial"/>
              <a:buChar char="•"/>
            </a:pPr>
            <a:r>
              <a:rPr b="0" lang="en-GB" sz="2400" spc="-1" strike="noStrike">
                <a:solidFill>
                  <a:srgbClr val="000000"/>
                </a:solidFill>
                <a:latin typeface="Calibri"/>
                <a:ea typeface="Open Sans"/>
              </a:rPr>
              <a:t>Conduct the disruptive technology risk assessment based on the lecture provided during Data lab</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n-GB" sz="2400" spc="-1" strike="noStrike">
                <a:solidFill>
                  <a:srgbClr val="000000"/>
                </a:solidFill>
                <a:latin typeface="Calibri"/>
                <a:ea typeface="Open Sans"/>
              </a:rPr>
              <a:t>How can I </a:t>
            </a:r>
            <a:r>
              <a:rPr b="0" lang="en-GB" sz="2400" spc="-1" strike="noStrike">
                <a:solidFill>
                  <a:srgbClr val="000000"/>
                </a:solidFill>
                <a:latin typeface="Calibri"/>
                <a:ea typeface="Calibri"/>
              </a:rPr>
              <a:t>eliminate risks?</a:t>
            </a:r>
            <a:endParaRPr b="0" lang="en-US" sz="2400" spc="-1" strike="noStrike">
              <a:latin typeface="Arial"/>
            </a:endParaRPr>
          </a:p>
          <a:p>
            <a:pPr>
              <a:lnSpc>
                <a:spcPct val="90000"/>
              </a:lnSpc>
              <a:spcBef>
                <a:spcPts val="1001"/>
              </a:spcBef>
              <a:buNone/>
              <a:tabLst>
                <a:tab algn="l" pos="0"/>
              </a:tabLst>
            </a:pPr>
            <a:r>
              <a:rPr b="1" lang="en-GB" sz="2100" spc="-1" strike="noStrike">
                <a:solidFill>
                  <a:srgbClr val="000000"/>
                </a:solidFill>
                <a:latin typeface="Open Sans"/>
                <a:ea typeface="Open Sans"/>
              </a:rPr>
              <a:t>ILO Mapping:</a:t>
            </a:r>
            <a:r>
              <a:rPr b="0" lang="en-GB" sz="2100" spc="-1" strike="noStrike">
                <a:solidFill>
                  <a:srgbClr val="000000"/>
                </a:solidFill>
                <a:latin typeface="Open Sans"/>
                <a:ea typeface="Open Sans"/>
              </a:rPr>
              <a:t> GOOD, EXCELLENT </a:t>
            </a:r>
            <a:endParaRPr b="0" lang="en-US" sz="2100" spc="-1" strike="noStrike">
              <a:latin typeface="Arial"/>
            </a:endParaRPr>
          </a:p>
          <a:p>
            <a:pPr>
              <a:lnSpc>
                <a:spcPct val="90000"/>
              </a:lnSpc>
              <a:spcBef>
                <a:spcPts val="1001"/>
              </a:spcBef>
              <a:buNone/>
              <a:tabLst>
                <a:tab algn="l" pos="0"/>
              </a:tabLst>
            </a:pPr>
            <a:r>
              <a:rPr b="0" lang="en-GB" sz="2100" spc="-1" strike="noStrike">
                <a:solidFill>
                  <a:srgbClr val="000000"/>
                </a:solidFill>
                <a:latin typeface="Open Sans"/>
                <a:ea typeface="Open Sans"/>
              </a:rPr>
              <a:t>Requirements:</a:t>
            </a:r>
            <a:endParaRPr b="0" lang="en-US" sz="2100" spc="-1" strike="noStrike">
              <a:latin typeface="Arial"/>
            </a:endParaRPr>
          </a:p>
          <a:p>
            <a:pPr marL="198720" indent="-29160">
              <a:lnSpc>
                <a:spcPct val="90000"/>
              </a:lnSpc>
              <a:spcBef>
                <a:spcPts val="1001"/>
              </a:spcBef>
              <a:buClr>
                <a:srgbClr val="ee731a"/>
              </a:buClr>
              <a:buFont typeface="Arial"/>
              <a:buChar char="•"/>
              <a:tabLst>
                <a:tab algn="l" pos="0"/>
              </a:tabLst>
            </a:pPr>
            <a:r>
              <a:rPr b="0" lang="en-GB" sz="1800" spc="-1" strike="noStrike">
                <a:solidFill>
                  <a:srgbClr val="000000"/>
                </a:solidFill>
                <a:latin typeface="Open Sans"/>
                <a:ea typeface="Open Sans"/>
              </a:rPr>
              <a:t> </a:t>
            </a:r>
            <a:r>
              <a:rPr b="0" lang="en-GB" sz="1800" spc="-1" strike="noStrike">
                <a:solidFill>
                  <a:srgbClr val="000000"/>
                </a:solidFill>
                <a:latin typeface="Open Sans"/>
                <a:ea typeface="Open Sans"/>
              </a:rPr>
              <a:t>The student conducts assessment of disruptive technology risks associated with proposed application ( Use-Case 3);</a:t>
            </a:r>
            <a:endParaRPr b="0" lang="en-US" sz="1800" spc="-1" strike="noStrike">
              <a:latin typeface="Arial"/>
            </a:endParaRPr>
          </a:p>
          <a:p>
            <a:pPr marL="198720" indent="-29160">
              <a:lnSpc>
                <a:spcPct val="90000"/>
              </a:lnSpc>
              <a:spcBef>
                <a:spcPts val="1001"/>
              </a:spcBef>
              <a:buClr>
                <a:srgbClr val="ee731a"/>
              </a:buClr>
              <a:buFont typeface="Arial"/>
              <a:buChar char="•"/>
              <a:tabLst>
                <a:tab algn="l" pos="0"/>
              </a:tabLst>
            </a:pPr>
            <a:r>
              <a:rPr b="0" lang="en-GB" sz="1800" spc="-1" strike="noStrike">
                <a:solidFill>
                  <a:srgbClr val="000000"/>
                </a:solidFill>
                <a:latin typeface="Open Sans"/>
                <a:ea typeface="Open Sans"/>
              </a:rPr>
              <a:t> </a:t>
            </a:r>
            <a:r>
              <a:rPr b="0" lang="en-GB" sz="1800" spc="-1" strike="noStrike">
                <a:solidFill>
                  <a:srgbClr val="000000"/>
                </a:solidFill>
                <a:latin typeface="Open Sans"/>
                <a:ea typeface="Open Sans"/>
              </a:rPr>
              <a:t>The student improves proposal for an application based on the assessment of disruptive technology risks (Use-Case 3). </a:t>
            </a:r>
            <a:endParaRPr b="0" lang="en-US" sz="1800" spc="-1" strike="noStrike">
              <a:latin typeface="Arial"/>
            </a:endParaRPr>
          </a:p>
          <a:p>
            <a:pPr>
              <a:lnSpc>
                <a:spcPct val="90000"/>
              </a:lnSpc>
              <a:spcBef>
                <a:spcPts val="1001"/>
              </a:spcBef>
              <a:buNone/>
              <a:tabLst>
                <a:tab algn="l" pos="0"/>
              </a:tabLst>
            </a:pPr>
            <a:endParaRPr b="0" lang="en-US" sz="1800" spc="-1" strike="noStrike">
              <a:latin typeface="Arial"/>
            </a:endParaRPr>
          </a:p>
          <a:p>
            <a:pPr>
              <a:lnSpc>
                <a:spcPct val="90000"/>
              </a:lnSpc>
              <a:spcBef>
                <a:spcPts val="1001"/>
              </a:spcBef>
              <a:buNone/>
              <a:tabLst>
                <a:tab algn="l" pos="0"/>
              </a:tabLst>
            </a:pPr>
            <a:r>
              <a:rPr b="1" lang="en-GB" sz="3200" spc="-1" strike="noStrike">
                <a:solidFill>
                  <a:srgbClr val="000000"/>
                </a:solidFill>
                <a:latin typeface="Open Sans"/>
                <a:ea typeface="Open Sans"/>
              </a:rPr>
              <a:t>[remove this slide before submission]</a:t>
            </a:r>
            <a:endParaRPr b="0" lang="en-US" sz="32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275" name="PlaceHolder 2"/>
          <p:cNvSpPr>
            <a:spLocks noGrp="1"/>
          </p:cNvSpPr>
          <p:nvPr>
            <p:ph type="title"/>
          </p:nvPr>
        </p:nvSpPr>
        <p:spPr>
          <a:xfrm>
            <a:off x="537840" y="412560"/>
            <a:ext cx="11143800" cy="866520"/>
          </a:xfrm>
          <a:prstGeom prst="rect">
            <a:avLst/>
          </a:prstGeom>
          <a:noFill/>
          <a:ln w="0">
            <a:noFill/>
          </a:ln>
        </p:spPr>
        <p:txBody>
          <a:bodyPr lIns="0" rIns="0" tIns="0" bIns="0" anchor="t">
            <a:noAutofit/>
          </a:bodyPr>
          <a:p>
            <a:pPr>
              <a:lnSpc>
                <a:spcPct val="90000"/>
              </a:lnSpc>
              <a:buNone/>
            </a:pPr>
            <a:r>
              <a:rPr b="0" lang="nl-NL" sz="4400" spc="-1" strike="noStrike">
                <a:solidFill>
                  <a:srgbClr val="0e3d67"/>
                </a:solidFill>
                <a:latin typeface="Open Sans Semibold"/>
                <a:ea typeface="Open Sans Semibold"/>
              </a:rPr>
              <a:t>Business Understanding Components</a:t>
            </a:r>
            <a:endParaRPr b="0" lang="en-US" sz="4400" spc="-1" strike="noStrike">
              <a:latin typeface="Arial"/>
            </a:endParaRPr>
          </a:p>
          <a:p>
            <a:pPr>
              <a:lnSpc>
                <a:spcPct val="90000"/>
              </a:lnSpc>
              <a:buNone/>
            </a:pPr>
            <a:endParaRPr b="0" lang="en-US" sz="4400" spc="-1" strike="noStrike">
              <a:latin typeface="Arial"/>
            </a:endParaRPr>
          </a:p>
        </p:txBody>
      </p:sp>
      <p:sp>
        <p:nvSpPr>
          <p:cNvPr id="4" name="PlaceHolder 3"/>
          <p:cNvSpPr>
            <a:spLocks noGrp="1"/>
          </p:cNvSpPr>
          <p:nvPr>
            <p:ph type="sldNum" idx="8"/>
          </p:nvPr>
        </p:nvSpPr>
        <p:spPr/>
        <p:txBody>
          <a:bodyPr/>
          <a:p>
            <a:fld id="{B71DB4BC-7F9A-4605-B5F3-7564BFA89F5B}"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p:nvPr>
        </p:nvSpPr>
        <p:spPr>
          <a:xfrm>
            <a:off x="537840" y="1399320"/>
            <a:ext cx="538812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3000" spc="-1" strike="noStrike">
                <a:solidFill>
                  <a:srgbClr val="00b7ee"/>
                </a:solidFill>
                <a:latin typeface="Open Sans SemiBold"/>
              </a:rPr>
              <a:t>Risks</a:t>
            </a:r>
            <a:endParaRPr b="0" lang="en-US" sz="3000" spc="-1" strike="noStrike">
              <a:latin typeface="Arial"/>
            </a:endParaRPr>
          </a:p>
        </p:txBody>
      </p:sp>
      <p:sp>
        <p:nvSpPr>
          <p:cNvPr id="277" name="PlaceHolder 2"/>
          <p:cNvSpPr>
            <a:spLocks noGrp="1"/>
          </p:cNvSpPr>
          <p:nvPr>
            <p:ph/>
          </p:nvPr>
        </p:nvSpPr>
        <p:spPr>
          <a:xfrm>
            <a:off x="537120" y="1877760"/>
            <a:ext cx="5389200" cy="3886920"/>
          </a:xfrm>
          <a:prstGeom prst="rect">
            <a:avLst/>
          </a:prstGeom>
          <a:noFill/>
          <a:ln w="0">
            <a:noFill/>
          </a:ln>
        </p:spPr>
        <p:txBody>
          <a:bodyPr lIns="90000" rIns="90000" tIns="45000" bIns="45000" anchor="t">
            <a:noAutofit/>
          </a:bodyPr>
          <a:p>
            <a:pPr marL="198720" indent="-198720">
              <a:lnSpc>
                <a:spcPct val="90000"/>
              </a:lnSpc>
              <a:spcBef>
                <a:spcPts val="1001"/>
              </a:spcBef>
              <a:buClr>
                <a:srgbClr val="ee731a"/>
              </a:buClr>
              <a:buFont typeface="Arial"/>
              <a:buChar char="•"/>
            </a:pPr>
            <a:r>
              <a:rPr b="0" lang="en-US" sz="2100" spc="-1" strike="noStrike">
                <a:solidFill>
                  <a:srgbClr val="000000"/>
                </a:solidFill>
                <a:latin typeface="Open Sans"/>
                <a:ea typeface="Open Sans"/>
              </a:rPr>
              <a:t> </a:t>
            </a:r>
            <a:endParaRPr b="0" lang="en-US" sz="2100" spc="-1" strike="noStrike">
              <a:latin typeface="Arial"/>
            </a:endParaRPr>
          </a:p>
          <a:p>
            <a:pPr>
              <a:lnSpc>
                <a:spcPct val="90000"/>
              </a:lnSpc>
              <a:spcBef>
                <a:spcPts val="1001"/>
              </a:spcBef>
              <a:buNone/>
            </a:pPr>
            <a:endParaRPr b="0" lang="en-US" sz="21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278" name="PlaceHolder 3"/>
          <p:cNvSpPr>
            <a:spLocks noGrp="1"/>
          </p:cNvSpPr>
          <p:nvPr>
            <p:ph/>
          </p:nvPr>
        </p:nvSpPr>
        <p:spPr>
          <a:xfrm>
            <a:off x="6103800" y="1870560"/>
            <a:ext cx="5389200" cy="3886920"/>
          </a:xfrm>
          <a:prstGeom prst="rect">
            <a:avLst/>
          </a:prstGeom>
          <a:noFill/>
          <a:ln w="0">
            <a:noFill/>
          </a:ln>
        </p:spPr>
        <p:txBody>
          <a:bodyPr lIns="90000" rIns="90000" tIns="45000" bIns="45000" anchor="t">
            <a:noAutofit/>
          </a:bodyPr>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[Some high-level plan]</a:t>
            </a:r>
            <a:endParaRPr b="0" lang="en-US" sz="2100" spc="-1" strike="noStrike">
              <a:latin typeface="Arial"/>
            </a:endParaRPr>
          </a:p>
        </p:txBody>
      </p:sp>
      <p:sp>
        <p:nvSpPr>
          <p:cNvPr id="279" name="PlaceHolder 4"/>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US" sz="4400" spc="-1" strike="noStrike">
                <a:solidFill>
                  <a:srgbClr val="0e3d67"/>
                </a:solidFill>
                <a:latin typeface="Open Sans Semibold"/>
              </a:rPr>
              <a:t>Disruptive Technology Risks</a:t>
            </a:r>
            <a:endParaRPr b="0" lang="en-US" sz="4400" spc="-1" strike="noStrike">
              <a:latin typeface="Arial"/>
            </a:endParaRPr>
          </a:p>
        </p:txBody>
      </p:sp>
      <p:sp>
        <p:nvSpPr>
          <p:cNvPr id="280" name="Text Placeholder 2"/>
          <p:cNvSpPr/>
          <p:nvPr/>
        </p:nvSpPr>
        <p:spPr>
          <a:xfrm>
            <a:off x="6104880" y="1399320"/>
            <a:ext cx="5388120" cy="470520"/>
          </a:xfrm>
          <a:prstGeom prst="rect">
            <a:avLst/>
          </a:prstGeom>
          <a:noFill/>
          <a:ln w="0">
            <a:noFill/>
          </a:ln>
        </p:spPr>
        <p:style>
          <a:lnRef idx="0"/>
          <a:fillRef idx="0"/>
          <a:effectRef idx="0"/>
          <a:fontRef idx="minor"/>
        </p:style>
        <p:txBody>
          <a:bodyPr lIns="90000" rIns="90000" tIns="45000" bIns="45000" anchor="t">
            <a:noAutofit/>
          </a:bodyPr>
          <a:p>
            <a:pPr>
              <a:lnSpc>
                <a:spcPct val="90000"/>
              </a:lnSpc>
              <a:spcBef>
                <a:spcPts val="1001"/>
              </a:spcBef>
              <a:buNone/>
              <a:tabLst>
                <a:tab algn="l" pos="0"/>
              </a:tabLst>
            </a:pPr>
            <a:r>
              <a:rPr b="0" lang="en-US" sz="3000" spc="-1" strike="noStrike">
                <a:solidFill>
                  <a:srgbClr val="00b7ee"/>
                </a:solidFill>
                <a:latin typeface="Open Sans SemiBold"/>
                <a:ea typeface="DejaVu Sans"/>
              </a:rPr>
              <a:t>Contingency Plan</a:t>
            </a:r>
            <a:endParaRPr b="0" lang="en-US" sz="3000" spc="-1" strike="noStrike">
              <a:latin typeface="Arial"/>
            </a:endParaRPr>
          </a:p>
        </p:txBody>
      </p:sp>
      <p:sp>
        <p:nvSpPr>
          <p:cNvPr id="6" name="PlaceHolder 5"/>
          <p:cNvSpPr>
            <a:spLocks noGrp="1"/>
          </p:cNvSpPr>
          <p:nvPr>
            <p:ph type="sldNum" idx="11"/>
          </p:nvPr>
        </p:nvSpPr>
        <p:spPr/>
        <p:txBody>
          <a:bodyPr/>
          <a:p>
            <a:fld id="{9C51A9F7-9C86-40C1-8881-7EE025BDDDC7}"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p:nvPr>
        </p:nvSpPr>
        <p:spPr>
          <a:xfrm>
            <a:off x="537840" y="139932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3000" spc="-1" strike="noStrike">
                <a:solidFill>
                  <a:srgbClr val="00b7ee"/>
                </a:solidFill>
                <a:latin typeface="Open Sans SemiBold"/>
              </a:rPr>
              <a:t>High-level concept design:</a:t>
            </a:r>
            <a:endParaRPr b="0" lang="en-US" sz="3000" spc="-1" strike="noStrike">
              <a:latin typeface="Arial"/>
            </a:endParaRPr>
          </a:p>
        </p:txBody>
      </p:sp>
      <p:sp>
        <p:nvSpPr>
          <p:cNvPr id="282" name="PlaceHolder 2"/>
          <p:cNvSpPr>
            <a:spLocks noGrp="1"/>
          </p:cNvSpPr>
          <p:nvPr>
            <p:ph/>
          </p:nvPr>
        </p:nvSpPr>
        <p:spPr>
          <a:xfrm>
            <a:off x="537840" y="1881720"/>
            <a:ext cx="11143800" cy="408168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2100" spc="-1" strike="noStrike">
                <a:solidFill>
                  <a:srgbClr val="000000"/>
                </a:solidFill>
                <a:latin typeface="Open Sans"/>
              </a:rPr>
              <a:t>Reiterate:</a:t>
            </a:r>
            <a:endParaRPr b="0" lang="en-US" sz="2100" spc="-1" strike="noStrike">
              <a:latin typeface="Arial"/>
            </a:endParaRPr>
          </a:p>
          <a:p>
            <a:pPr marL="199080" indent="-199080">
              <a:lnSpc>
                <a:spcPct val="90000"/>
              </a:lnSpc>
              <a:spcBef>
                <a:spcPts val="1001"/>
              </a:spcBef>
              <a:buClr>
                <a:srgbClr val="ee731a"/>
              </a:buClr>
              <a:buFont typeface="Arial"/>
              <a:buChar char="•"/>
              <a:tabLst>
                <a:tab algn="l" pos="0"/>
              </a:tabLst>
            </a:pPr>
            <a:r>
              <a:rPr b="0" lang="en-US" sz="2100" spc="-1" strike="noStrike">
                <a:solidFill>
                  <a:srgbClr val="000000"/>
                </a:solidFill>
                <a:latin typeface="Open Sans"/>
              </a:rPr>
              <a:t>Who is the user?</a:t>
            </a:r>
            <a:endParaRPr b="0" lang="en-US" sz="2100" spc="-1" strike="noStrike">
              <a:latin typeface="Arial"/>
            </a:endParaRPr>
          </a:p>
          <a:p>
            <a:pPr marL="199080" indent="-199080">
              <a:lnSpc>
                <a:spcPct val="90000"/>
              </a:lnSpc>
              <a:spcBef>
                <a:spcPts val="1001"/>
              </a:spcBef>
              <a:buClr>
                <a:srgbClr val="ee731a"/>
              </a:buClr>
              <a:buFont typeface="Arial"/>
              <a:buChar char="•"/>
              <a:tabLst>
                <a:tab algn="l" pos="0"/>
              </a:tabLst>
            </a:pPr>
            <a:r>
              <a:rPr b="0" lang="en-US" sz="2100" spc="-1" strike="noStrike">
                <a:solidFill>
                  <a:srgbClr val="000000"/>
                </a:solidFill>
                <a:latin typeface="Open Sans"/>
              </a:rPr>
              <a:t>What problem are you solving?</a:t>
            </a:r>
            <a:endParaRPr b="0" lang="en-US" sz="2100" spc="-1" strike="noStrike">
              <a:latin typeface="Arial"/>
            </a:endParaRPr>
          </a:p>
          <a:p>
            <a:pPr marL="199080" indent="-199080">
              <a:lnSpc>
                <a:spcPct val="90000"/>
              </a:lnSpc>
              <a:spcBef>
                <a:spcPts val="1001"/>
              </a:spcBef>
              <a:buClr>
                <a:srgbClr val="ee731a"/>
              </a:buClr>
              <a:buFont typeface="Arial"/>
              <a:buChar char="•"/>
              <a:tabLst>
                <a:tab algn="l" pos="0"/>
              </a:tabLst>
            </a:pPr>
            <a:r>
              <a:rPr b="0" lang="en-US" sz="2100" spc="-1" strike="noStrike">
                <a:solidFill>
                  <a:srgbClr val="000000"/>
                </a:solidFill>
                <a:latin typeface="Open Sans"/>
              </a:rPr>
              <a:t>How is the app going to solve that problem?</a:t>
            </a:r>
            <a:endParaRPr b="0" lang="en-US" sz="2100" spc="-1" strike="noStrike">
              <a:latin typeface="Arial"/>
            </a:endParaRPr>
          </a:p>
          <a:p>
            <a:pPr>
              <a:lnSpc>
                <a:spcPct val="90000"/>
              </a:lnSpc>
              <a:spcBef>
                <a:spcPts val="1001"/>
              </a:spcBef>
              <a:buNone/>
              <a:tabLst>
                <a:tab algn="l" pos="0"/>
              </a:tabLst>
            </a:pPr>
            <a:endParaRPr b="0" lang="en-US" sz="2100" spc="-1" strike="noStrike">
              <a:latin typeface="Arial"/>
            </a:endParaRPr>
          </a:p>
          <a:p>
            <a:pPr>
              <a:lnSpc>
                <a:spcPct val="90000"/>
              </a:lnSpc>
              <a:spcBef>
                <a:spcPts val="1001"/>
              </a:spcBef>
              <a:buNone/>
              <a:tabLst>
                <a:tab algn="l" pos="0"/>
              </a:tabLst>
            </a:pPr>
            <a:r>
              <a:rPr b="0" lang="en-US" sz="2100" spc="-1" strike="noStrike">
                <a:solidFill>
                  <a:srgbClr val="000000"/>
                </a:solidFill>
                <a:latin typeface="Open Sans"/>
              </a:rPr>
              <a:t>What else is important to your app? For example:</a:t>
            </a:r>
            <a:endParaRPr b="0" lang="en-US" sz="2100" spc="-1" strike="noStrike">
              <a:latin typeface="Arial"/>
            </a:endParaRPr>
          </a:p>
          <a:p>
            <a:pPr marL="199080" indent="-199080">
              <a:lnSpc>
                <a:spcPct val="90000"/>
              </a:lnSpc>
              <a:spcBef>
                <a:spcPts val="1001"/>
              </a:spcBef>
              <a:buClr>
                <a:srgbClr val="ee731a"/>
              </a:buClr>
              <a:buFont typeface="Arial"/>
              <a:buChar char="•"/>
              <a:tabLst>
                <a:tab algn="l" pos="0"/>
              </a:tabLst>
            </a:pPr>
            <a:r>
              <a:rPr b="0" lang="en-US" sz="2100" spc="-1" strike="noStrike">
                <a:solidFill>
                  <a:srgbClr val="000000"/>
                </a:solidFill>
                <a:latin typeface="Open Sans"/>
              </a:rPr>
              <a:t>Menu Flow?</a:t>
            </a:r>
            <a:endParaRPr b="0" lang="en-US" sz="2100" spc="-1" strike="noStrike">
              <a:latin typeface="Arial"/>
            </a:endParaRPr>
          </a:p>
          <a:p>
            <a:pPr marL="199080" indent="-199080">
              <a:lnSpc>
                <a:spcPct val="90000"/>
              </a:lnSpc>
              <a:spcBef>
                <a:spcPts val="1001"/>
              </a:spcBef>
              <a:buClr>
                <a:srgbClr val="ee731a"/>
              </a:buClr>
              <a:buFont typeface="Arial"/>
              <a:buChar char="•"/>
              <a:tabLst>
                <a:tab algn="l" pos="0"/>
              </a:tabLst>
            </a:pPr>
            <a:r>
              <a:rPr b="0" lang="en-US" sz="2100" spc="-1" strike="noStrike">
                <a:solidFill>
                  <a:srgbClr val="000000"/>
                </a:solidFill>
                <a:latin typeface="Open Sans"/>
              </a:rPr>
              <a:t>Information flow?</a:t>
            </a:r>
            <a:endParaRPr b="0" lang="en-US" sz="2100" spc="-1" strike="noStrike">
              <a:latin typeface="Arial"/>
            </a:endParaRPr>
          </a:p>
          <a:p>
            <a:pPr marL="199080" indent="-199080">
              <a:lnSpc>
                <a:spcPct val="90000"/>
              </a:lnSpc>
              <a:spcBef>
                <a:spcPts val="1001"/>
              </a:spcBef>
              <a:buClr>
                <a:srgbClr val="ee731a"/>
              </a:buClr>
              <a:buFont typeface="Arial"/>
              <a:buChar char="•"/>
              <a:tabLst>
                <a:tab algn="l" pos="0"/>
              </a:tabLst>
            </a:pPr>
            <a:r>
              <a:rPr b="0" lang="en-US" sz="2100" spc="-1" strike="noStrike">
                <a:solidFill>
                  <a:srgbClr val="000000"/>
                </a:solidFill>
                <a:latin typeface="Open Sans"/>
              </a:rPr>
              <a:t>Colors styles?</a:t>
            </a:r>
            <a:endParaRPr b="0" lang="en-US" sz="2100" spc="-1" strike="noStrike">
              <a:latin typeface="Arial"/>
            </a:endParaRPr>
          </a:p>
          <a:p>
            <a:pPr marL="199080" indent="-199080">
              <a:lnSpc>
                <a:spcPct val="90000"/>
              </a:lnSpc>
              <a:spcBef>
                <a:spcPts val="1001"/>
              </a:spcBef>
              <a:buClr>
                <a:srgbClr val="ee731a"/>
              </a:buClr>
              <a:buFont typeface="Arial"/>
              <a:buChar char="•"/>
              <a:tabLst>
                <a:tab algn="l" pos="0"/>
              </a:tabLst>
            </a:pPr>
            <a:r>
              <a:rPr b="0" lang="en-US" sz="2100" spc="-1" strike="noStrike">
                <a:solidFill>
                  <a:srgbClr val="000000"/>
                </a:solidFill>
                <a:latin typeface="Open Sans"/>
              </a:rPr>
              <a:t>Interaction style?</a:t>
            </a:r>
            <a:endParaRPr b="0" lang="en-US" sz="2100" spc="-1" strike="noStrike">
              <a:latin typeface="Arial"/>
            </a:endParaRPr>
          </a:p>
        </p:txBody>
      </p:sp>
      <p:sp>
        <p:nvSpPr>
          <p:cNvPr id="283" name="PlaceHolder 3"/>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US" sz="4400" spc="-1" strike="noStrike">
                <a:solidFill>
                  <a:srgbClr val="0e3d67"/>
                </a:solidFill>
                <a:latin typeface="Open Sans Semibold"/>
              </a:rPr>
              <a:t>HCAI - </a:t>
            </a:r>
            <a:r>
              <a:rPr b="0" lang="en-NL" sz="4400" spc="-1" strike="noStrike">
                <a:solidFill>
                  <a:srgbClr val="0e3d67"/>
                </a:solidFill>
                <a:latin typeface="Open Sans Semibold"/>
              </a:rPr>
              <a:t>Application Design</a:t>
            </a:r>
            <a:r>
              <a:rPr b="0" lang="en-US" sz="4400" spc="-1" strike="noStrike">
                <a:solidFill>
                  <a:srgbClr val="0e3d67"/>
                </a:solidFill>
                <a:latin typeface="Open Sans Semibold"/>
              </a:rPr>
              <a:t>:</a:t>
            </a:r>
            <a:endParaRPr b="0" lang="en-US" sz="4400" spc="-1" strike="noStrike">
              <a:latin typeface="Arial"/>
            </a:endParaRPr>
          </a:p>
        </p:txBody>
      </p:sp>
      <p:sp>
        <p:nvSpPr>
          <p:cNvPr id="284" name="TextBox 6"/>
          <p:cNvSpPr/>
          <p:nvPr/>
        </p:nvSpPr>
        <p:spPr>
          <a:xfrm>
            <a:off x="1484640" y="6356520"/>
            <a:ext cx="60933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GB" sz="1800" spc="-1" strike="noStrike">
                <a:solidFill>
                  <a:srgbClr val="000000"/>
                </a:solidFill>
                <a:latin typeface="Open Sans"/>
                <a:ea typeface="Open Sans"/>
              </a:rPr>
              <a:t>ILO Mapping: Poor &amp; Excellent</a:t>
            </a:r>
            <a:endParaRPr b="0" lang="en-US" sz="1800" spc="-1" strike="noStrike">
              <a:latin typeface="Arial"/>
            </a:endParaRPr>
          </a:p>
        </p:txBody>
      </p:sp>
      <p:sp>
        <p:nvSpPr>
          <p:cNvPr id="5" name="PlaceHolder 4"/>
          <p:cNvSpPr>
            <a:spLocks noGrp="1"/>
          </p:cNvSpPr>
          <p:nvPr>
            <p:ph type="sldNum" idx="8"/>
          </p:nvPr>
        </p:nvSpPr>
        <p:spPr/>
        <p:txBody>
          <a:bodyPr/>
          <a:p>
            <a:fld id="{7D304653-949D-41B5-88AC-A76BB0815B2A}"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p:nvPr>
        </p:nvSpPr>
        <p:spPr>
          <a:xfrm>
            <a:off x="537840" y="139932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NL" sz="3000" spc="-1" strike="noStrike">
                <a:solidFill>
                  <a:srgbClr val="00b7ee"/>
                </a:solidFill>
                <a:latin typeface="Open Sans SemiBold"/>
              </a:rPr>
              <a:t>Algorithm Embedding</a:t>
            </a:r>
            <a:r>
              <a:rPr b="0" lang="en-US" sz="3000" spc="-1" strike="noStrike">
                <a:solidFill>
                  <a:srgbClr val="00b7ee"/>
                </a:solidFill>
                <a:latin typeface="Open Sans SemiBold"/>
              </a:rPr>
              <a:t>:</a:t>
            </a:r>
            <a:endParaRPr b="0" lang="en-US" sz="3000" spc="-1" strike="noStrike">
              <a:latin typeface="Arial"/>
            </a:endParaRPr>
          </a:p>
        </p:txBody>
      </p:sp>
      <p:sp>
        <p:nvSpPr>
          <p:cNvPr id="286" name="PlaceHolder 2"/>
          <p:cNvSpPr>
            <a:spLocks noGrp="1"/>
          </p:cNvSpPr>
          <p:nvPr>
            <p:ph/>
          </p:nvPr>
        </p:nvSpPr>
        <p:spPr>
          <a:xfrm>
            <a:off x="537840" y="1881720"/>
            <a:ext cx="11143800" cy="4081680"/>
          </a:xfrm>
          <a:prstGeom prst="rect">
            <a:avLst/>
          </a:prstGeom>
          <a:noFill/>
          <a:ln w="0">
            <a:noFill/>
          </a:ln>
        </p:spPr>
        <p:txBody>
          <a:bodyPr lIns="90000" rIns="90000" tIns="45000" bIns="45000" anchor="t">
            <a:noAutofit/>
          </a:bodyPr>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How is the computer vision algorithm embedded?</a:t>
            </a:r>
            <a:endParaRPr b="0" lang="en-US" sz="2100" spc="-1" strike="noStrike">
              <a:latin typeface="Arial"/>
            </a:endParaRPr>
          </a:p>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What will the eventual algorithm detect and how?</a:t>
            </a:r>
            <a:endParaRPr b="0" lang="en-US" sz="2100" spc="-1" strike="noStrike">
              <a:latin typeface="Arial"/>
            </a:endParaRPr>
          </a:p>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Will the algorithm be able to do more then demonstrated in the proof-of-concept?</a:t>
            </a:r>
            <a:endParaRPr b="0" lang="en-US" sz="21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287" name="PlaceHolder 3"/>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US" sz="4400" spc="-1" strike="noStrike">
                <a:solidFill>
                  <a:srgbClr val="0e3d67"/>
                </a:solidFill>
                <a:latin typeface="Open Sans Semibold"/>
              </a:rPr>
              <a:t>HCAI - </a:t>
            </a:r>
            <a:r>
              <a:rPr b="0" lang="en-NL" sz="4400" spc="-1" strike="noStrike">
                <a:solidFill>
                  <a:srgbClr val="0e3d67"/>
                </a:solidFill>
                <a:latin typeface="Open Sans Semibold"/>
              </a:rPr>
              <a:t>Application Design</a:t>
            </a:r>
            <a:endParaRPr b="0" lang="en-US" sz="4400" spc="-1" strike="noStrike">
              <a:latin typeface="Arial"/>
            </a:endParaRPr>
          </a:p>
        </p:txBody>
      </p:sp>
      <p:sp>
        <p:nvSpPr>
          <p:cNvPr id="288" name="TextBox 5"/>
          <p:cNvSpPr/>
          <p:nvPr/>
        </p:nvSpPr>
        <p:spPr>
          <a:xfrm>
            <a:off x="1484640" y="6356520"/>
            <a:ext cx="60933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GB" sz="1800" spc="-1" strike="noStrike">
                <a:solidFill>
                  <a:srgbClr val="000000"/>
                </a:solidFill>
                <a:latin typeface="Open Sans"/>
                <a:ea typeface="Open Sans"/>
              </a:rPr>
              <a:t>ILO Mapping: Poor &amp; Sufficient</a:t>
            </a:r>
            <a:endParaRPr b="0" lang="en-US" sz="1800" spc="-1" strike="noStrike">
              <a:latin typeface="Arial"/>
            </a:endParaRPr>
          </a:p>
        </p:txBody>
      </p:sp>
      <p:sp>
        <p:nvSpPr>
          <p:cNvPr id="5" name="PlaceHolder 4"/>
          <p:cNvSpPr>
            <a:spLocks noGrp="1"/>
          </p:cNvSpPr>
          <p:nvPr>
            <p:ph type="sldNum" idx="8"/>
          </p:nvPr>
        </p:nvSpPr>
        <p:spPr/>
        <p:txBody>
          <a:bodyPr/>
          <a:p>
            <a:fld id="{DAE16A3A-F44D-4FDD-8DDE-6F65113CE8DE}"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p:nvPr>
        </p:nvSpPr>
        <p:spPr>
          <a:xfrm>
            <a:off x="537840" y="139932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3000" spc="-1" strike="noStrike">
                <a:solidFill>
                  <a:srgbClr val="00b7ee"/>
                </a:solidFill>
                <a:latin typeface="Open Sans SemiBold"/>
              </a:rPr>
              <a:t>Continuous Learning</a:t>
            </a:r>
            <a:endParaRPr b="0" lang="en-US" sz="3000" spc="-1" strike="noStrike">
              <a:latin typeface="Arial"/>
            </a:endParaRPr>
          </a:p>
        </p:txBody>
      </p:sp>
      <p:sp>
        <p:nvSpPr>
          <p:cNvPr id="290" name="PlaceHolder 2"/>
          <p:cNvSpPr>
            <a:spLocks noGrp="1"/>
          </p:cNvSpPr>
          <p:nvPr>
            <p:ph/>
          </p:nvPr>
        </p:nvSpPr>
        <p:spPr>
          <a:xfrm>
            <a:off x="537840" y="1881720"/>
            <a:ext cx="11143800" cy="4081680"/>
          </a:xfrm>
          <a:prstGeom prst="rect">
            <a:avLst/>
          </a:prstGeom>
          <a:noFill/>
          <a:ln w="0">
            <a:noFill/>
          </a:ln>
        </p:spPr>
        <p:txBody>
          <a:bodyPr lIns="90000" rIns="90000" tIns="45000" bIns="45000" anchor="t">
            <a:noAutofit/>
          </a:bodyPr>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How does the application design allow for continual (supervised) learning based on user input? Meaning users can label data and/or output, E.g.:</a:t>
            </a:r>
            <a:endParaRPr b="0" lang="en-US" sz="2100" spc="-1" strike="noStrike">
              <a:latin typeface="Arial"/>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annotate pictures;</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other data labelling means;</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rate predictions/model output.</a:t>
            </a:r>
            <a:endParaRPr b="0" lang="en-US" sz="2400" spc="-1" strike="noStrike">
              <a:latin typeface="Arial"/>
            </a:endParaRPr>
          </a:p>
        </p:txBody>
      </p:sp>
      <p:sp>
        <p:nvSpPr>
          <p:cNvPr id="291" name="PlaceHolder 3"/>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US" sz="4400" spc="-1" strike="noStrike">
                <a:solidFill>
                  <a:srgbClr val="0e3d67"/>
                </a:solidFill>
                <a:latin typeface="Open Sans Semibold"/>
              </a:rPr>
              <a:t>HCAI - </a:t>
            </a:r>
            <a:r>
              <a:rPr b="0" lang="en-NL" sz="4400" spc="-1" strike="noStrike">
                <a:solidFill>
                  <a:srgbClr val="0e3d67"/>
                </a:solidFill>
                <a:latin typeface="Open Sans Semibold"/>
              </a:rPr>
              <a:t>Application Design</a:t>
            </a:r>
            <a:r>
              <a:rPr b="0" lang="en-US" sz="4400" spc="-1" strike="noStrike">
                <a:solidFill>
                  <a:srgbClr val="0e3d67"/>
                </a:solidFill>
                <a:latin typeface="Open Sans Semibold"/>
              </a:rPr>
              <a:t>:</a:t>
            </a:r>
            <a:endParaRPr b="0" lang="en-US" sz="4400" spc="-1" strike="noStrike">
              <a:latin typeface="Arial"/>
            </a:endParaRPr>
          </a:p>
        </p:txBody>
      </p:sp>
      <p:sp>
        <p:nvSpPr>
          <p:cNvPr id="292" name="TextBox 5"/>
          <p:cNvSpPr/>
          <p:nvPr/>
        </p:nvSpPr>
        <p:spPr>
          <a:xfrm>
            <a:off x="1484640" y="6356520"/>
            <a:ext cx="60933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GB" sz="1800" spc="-1" strike="noStrike">
                <a:solidFill>
                  <a:srgbClr val="000000"/>
                </a:solidFill>
                <a:latin typeface="Open Sans"/>
                <a:ea typeface="Open Sans"/>
              </a:rPr>
              <a:t>ILO Mapping: Poor &amp; Sufficient</a:t>
            </a:r>
            <a:endParaRPr b="0" lang="en-US" sz="1800" spc="-1" strike="noStrike">
              <a:latin typeface="Arial"/>
            </a:endParaRPr>
          </a:p>
        </p:txBody>
      </p:sp>
      <p:sp>
        <p:nvSpPr>
          <p:cNvPr id="5" name="PlaceHolder 4"/>
          <p:cNvSpPr>
            <a:spLocks noGrp="1"/>
          </p:cNvSpPr>
          <p:nvPr>
            <p:ph type="sldNum" idx="8"/>
          </p:nvPr>
        </p:nvSpPr>
        <p:spPr/>
        <p:txBody>
          <a:bodyPr/>
          <a:p>
            <a:fld id="{5801955D-4589-410D-BD7C-59038888528C}"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p:nvPr>
        </p:nvSpPr>
        <p:spPr>
          <a:xfrm>
            <a:off x="537840" y="139932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US" sz="3000" spc="-1" strike="noStrike">
                <a:solidFill>
                  <a:srgbClr val="00b7ee"/>
                </a:solidFill>
                <a:latin typeface="Open Sans SemiBold"/>
              </a:rPr>
              <a:t>Feedback</a:t>
            </a:r>
            <a:endParaRPr b="0" lang="en-US" sz="3000" spc="-1" strike="noStrike">
              <a:latin typeface="Arial"/>
            </a:endParaRPr>
          </a:p>
        </p:txBody>
      </p:sp>
      <p:sp>
        <p:nvSpPr>
          <p:cNvPr id="294" name="PlaceHolder 2"/>
          <p:cNvSpPr>
            <a:spLocks noGrp="1"/>
          </p:cNvSpPr>
          <p:nvPr>
            <p:ph/>
          </p:nvPr>
        </p:nvSpPr>
        <p:spPr>
          <a:xfrm>
            <a:off x="537840" y="1881720"/>
            <a:ext cx="11143800" cy="4081680"/>
          </a:xfrm>
          <a:prstGeom prst="rect">
            <a:avLst/>
          </a:prstGeom>
          <a:noFill/>
          <a:ln w="0">
            <a:noFill/>
          </a:ln>
        </p:spPr>
        <p:txBody>
          <a:bodyPr lIns="90000" rIns="90000" tIns="45000" bIns="45000" anchor="t">
            <a:noAutofit/>
          </a:bodyPr>
          <a:p>
            <a:pPr marL="199080" indent="-199080">
              <a:lnSpc>
                <a:spcPct val="90000"/>
              </a:lnSpc>
              <a:spcBef>
                <a:spcPts val="1001"/>
              </a:spcBef>
              <a:buClr>
                <a:srgbClr val="ee731a"/>
              </a:buClr>
              <a:buFont typeface="Arial"/>
              <a:buChar char="•"/>
            </a:pPr>
            <a:r>
              <a:rPr b="0" lang="en-NL" sz="2100" spc="-1" strike="noStrike">
                <a:solidFill>
                  <a:srgbClr val="000000"/>
                </a:solidFill>
                <a:latin typeface="Open Sans"/>
              </a:rPr>
              <a:t>User tests results</a:t>
            </a:r>
            <a:r>
              <a:rPr b="0" lang="en-US" sz="2100" spc="-1" strike="noStrike">
                <a:solidFill>
                  <a:srgbClr val="000000"/>
                </a:solidFill>
                <a:latin typeface="Open Sans"/>
              </a:rPr>
              <a:t>?</a:t>
            </a:r>
            <a:endParaRPr b="0" lang="en-US" sz="2100" spc="-1" strike="noStrike">
              <a:latin typeface="Arial"/>
            </a:endParaRPr>
          </a:p>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Client feedback? </a:t>
            </a:r>
            <a:endParaRPr b="0" lang="en-US" sz="2100" spc="-1" strike="noStrike">
              <a:latin typeface="Arial"/>
            </a:endParaRPr>
          </a:p>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What was processed and how?</a:t>
            </a:r>
            <a:endParaRPr b="0" lang="en-US" sz="2100" spc="-1" strike="noStrike">
              <a:latin typeface="Arial"/>
            </a:endParaRPr>
          </a:p>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Design implications?</a:t>
            </a:r>
            <a:endParaRPr b="0" lang="en-US" sz="21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295" name="PlaceHolder 3"/>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US" sz="4400" spc="-1" strike="noStrike">
                <a:solidFill>
                  <a:srgbClr val="0e3d67"/>
                </a:solidFill>
                <a:latin typeface="Open Sans Semibold"/>
              </a:rPr>
              <a:t>HCAI - </a:t>
            </a:r>
            <a:r>
              <a:rPr b="0" lang="en-NL" sz="4400" spc="-1" strike="noStrike">
                <a:solidFill>
                  <a:srgbClr val="0e3d67"/>
                </a:solidFill>
                <a:latin typeface="Open Sans Semibold"/>
              </a:rPr>
              <a:t>Application Design</a:t>
            </a:r>
            <a:r>
              <a:rPr b="0" lang="en-US" sz="4400" spc="-1" strike="noStrike">
                <a:solidFill>
                  <a:srgbClr val="0e3d67"/>
                </a:solidFill>
                <a:latin typeface="Open Sans Semibold"/>
              </a:rPr>
              <a:t>:</a:t>
            </a:r>
            <a:endParaRPr b="0" lang="en-US" sz="4400" spc="-1" strike="noStrike">
              <a:latin typeface="Arial"/>
            </a:endParaRPr>
          </a:p>
        </p:txBody>
      </p:sp>
      <p:sp>
        <p:nvSpPr>
          <p:cNvPr id="296" name="TextBox 5"/>
          <p:cNvSpPr/>
          <p:nvPr/>
        </p:nvSpPr>
        <p:spPr>
          <a:xfrm>
            <a:off x="1484640" y="6356520"/>
            <a:ext cx="60933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GB" sz="1800" spc="-1" strike="noStrike">
                <a:solidFill>
                  <a:srgbClr val="000000"/>
                </a:solidFill>
                <a:latin typeface="Open Sans"/>
                <a:ea typeface="Open Sans"/>
              </a:rPr>
              <a:t>ILO Mapping: Insufficient, Sufficient &amp; Good</a:t>
            </a:r>
            <a:endParaRPr b="0" lang="en-US" sz="1800" spc="-1" strike="noStrike">
              <a:latin typeface="Arial"/>
            </a:endParaRPr>
          </a:p>
        </p:txBody>
      </p:sp>
      <p:sp>
        <p:nvSpPr>
          <p:cNvPr id="5" name="PlaceHolder 4"/>
          <p:cNvSpPr>
            <a:spLocks noGrp="1"/>
          </p:cNvSpPr>
          <p:nvPr>
            <p:ph type="sldNum" idx="8"/>
          </p:nvPr>
        </p:nvSpPr>
        <p:spPr/>
        <p:txBody>
          <a:bodyPr/>
          <a:p>
            <a:fld id="{F9824B2A-2B0F-494A-8FC7-24EFC07F78A5}"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p:nvPr>
        </p:nvSpPr>
        <p:spPr>
          <a:xfrm>
            <a:off x="537840" y="139932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NL" sz="3000" spc="-1" strike="noStrike">
                <a:solidFill>
                  <a:srgbClr val="00b7ee"/>
                </a:solidFill>
                <a:latin typeface="Open Sans SemiBold"/>
              </a:rPr>
              <a:t>Low-level design</a:t>
            </a:r>
            <a:r>
              <a:rPr b="0" lang="en-US" sz="3000" spc="-1" strike="noStrike">
                <a:solidFill>
                  <a:srgbClr val="00b7ee"/>
                </a:solidFill>
                <a:latin typeface="Open Sans SemiBold"/>
              </a:rPr>
              <a:t>:</a:t>
            </a:r>
            <a:endParaRPr b="0" lang="en-US" sz="3000" spc="-1" strike="noStrike">
              <a:latin typeface="Arial"/>
            </a:endParaRPr>
          </a:p>
        </p:txBody>
      </p:sp>
      <p:sp>
        <p:nvSpPr>
          <p:cNvPr id="298" name="PlaceHolder 2"/>
          <p:cNvSpPr>
            <a:spLocks noGrp="1"/>
          </p:cNvSpPr>
          <p:nvPr>
            <p:ph/>
          </p:nvPr>
        </p:nvSpPr>
        <p:spPr>
          <a:xfrm>
            <a:off x="537840" y="1881720"/>
            <a:ext cx="11143800" cy="4081680"/>
          </a:xfrm>
          <a:prstGeom prst="rect">
            <a:avLst/>
          </a:prstGeom>
          <a:noFill/>
          <a:ln w="0">
            <a:noFill/>
          </a:ln>
        </p:spPr>
        <p:txBody>
          <a:bodyPr lIns="90000" rIns="90000" tIns="45000" bIns="45000" anchor="t">
            <a:noAutofit/>
          </a:bodyPr>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Detailed design of the application</a:t>
            </a:r>
            <a:endParaRPr b="0" lang="en-US" sz="2100" spc="-1" strike="noStrike">
              <a:latin typeface="Arial"/>
            </a:endParaRPr>
          </a:p>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How your application adds value to fundamental processes of the user case</a:t>
            </a:r>
            <a:endParaRPr b="0" lang="en-US" sz="2100" spc="-1" strike="noStrike">
              <a:latin typeface="Arial"/>
            </a:endParaRPr>
          </a:p>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Everything which doesn’t fit into the other boxes usually goes here…</a:t>
            </a:r>
            <a:endParaRPr b="0" lang="en-US" sz="2100" spc="-1" strike="noStrike">
              <a:latin typeface="Arial"/>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Note that you might want to explain aspects of the low-level design using your wireframe if possible!</a:t>
            </a:r>
            <a:endParaRPr b="0" lang="en-US" sz="2400" spc="-1" strike="noStrike">
              <a:latin typeface="Arial"/>
            </a:endParaRPr>
          </a:p>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E.g.</a:t>
            </a:r>
            <a:endParaRPr b="0" lang="en-US" sz="2100" spc="-1" strike="noStrike">
              <a:latin typeface="Arial"/>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User will receive notifications to do…</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To improve user retention, a competitive system is introduced which does…</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To warn the user for Y, a yellow colour will be used for X</a:t>
            </a:r>
            <a:endParaRPr b="0" lang="en-US" sz="2400" spc="-1" strike="noStrike">
              <a:latin typeface="Arial"/>
            </a:endParaRPr>
          </a:p>
          <a:p>
            <a:pPr>
              <a:lnSpc>
                <a:spcPct val="90000"/>
              </a:lnSpc>
              <a:spcBef>
                <a:spcPts val="1417"/>
              </a:spcBef>
              <a:buNone/>
            </a:pPr>
            <a:endParaRPr b="0" lang="en-US" sz="24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299" name="PlaceHolder 3"/>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US" sz="4400" spc="-1" strike="noStrike">
                <a:solidFill>
                  <a:srgbClr val="0e3d67"/>
                </a:solidFill>
                <a:latin typeface="Open Sans Semibold"/>
              </a:rPr>
              <a:t>HCAI - </a:t>
            </a:r>
            <a:r>
              <a:rPr b="0" lang="en-NL" sz="4400" spc="-1" strike="noStrike">
                <a:solidFill>
                  <a:srgbClr val="0e3d67"/>
                </a:solidFill>
                <a:latin typeface="Open Sans Semibold"/>
              </a:rPr>
              <a:t>Application Design</a:t>
            </a:r>
            <a:r>
              <a:rPr b="0" lang="en-US" sz="4400" spc="-1" strike="noStrike">
                <a:solidFill>
                  <a:srgbClr val="0e3d67"/>
                </a:solidFill>
                <a:latin typeface="Open Sans Semibold"/>
              </a:rPr>
              <a:t>:</a:t>
            </a:r>
            <a:endParaRPr b="0" lang="en-US" sz="4400" spc="-1" strike="noStrike">
              <a:latin typeface="Arial"/>
            </a:endParaRPr>
          </a:p>
        </p:txBody>
      </p:sp>
      <p:sp>
        <p:nvSpPr>
          <p:cNvPr id="300" name="TextBox 5"/>
          <p:cNvSpPr/>
          <p:nvPr/>
        </p:nvSpPr>
        <p:spPr>
          <a:xfrm>
            <a:off x="1484640" y="6356520"/>
            <a:ext cx="60933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GB" sz="1800" spc="-1" strike="noStrike">
                <a:solidFill>
                  <a:srgbClr val="000000"/>
                </a:solidFill>
                <a:latin typeface="Open Sans"/>
                <a:ea typeface="Open Sans"/>
              </a:rPr>
              <a:t>ILO Mapping: Excellent</a:t>
            </a:r>
            <a:endParaRPr b="0" lang="en-US" sz="1800" spc="-1" strike="noStrike">
              <a:latin typeface="Arial"/>
            </a:endParaRPr>
          </a:p>
        </p:txBody>
      </p:sp>
      <p:sp>
        <p:nvSpPr>
          <p:cNvPr id="5" name="PlaceHolder 4"/>
          <p:cNvSpPr>
            <a:spLocks noGrp="1"/>
          </p:cNvSpPr>
          <p:nvPr>
            <p:ph type="sldNum" idx="8"/>
          </p:nvPr>
        </p:nvSpPr>
        <p:spPr/>
        <p:txBody>
          <a:bodyPr/>
          <a:p>
            <a:fld id="{F43C3E15-47E2-47CD-99B7-4F7DE8B3BF82}"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p:nvPr>
        </p:nvSpPr>
        <p:spPr>
          <a:xfrm>
            <a:off x="537840" y="1399320"/>
            <a:ext cx="11143800" cy="470520"/>
          </a:xfrm>
          <a:prstGeom prst="rect">
            <a:avLst/>
          </a:prstGeom>
          <a:noFill/>
          <a:ln w="0">
            <a:noFill/>
          </a:ln>
        </p:spPr>
        <p:txBody>
          <a:bodyPr lIns="90000" rIns="90000" tIns="45000" bIns="45000" anchor="t">
            <a:noAutofit/>
          </a:bodyPr>
          <a:p>
            <a:pPr>
              <a:lnSpc>
                <a:spcPct val="90000"/>
              </a:lnSpc>
              <a:spcBef>
                <a:spcPts val="1001"/>
              </a:spcBef>
              <a:buNone/>
              <a:tabLst>
                <a:tab algn="l" pos="0"/>
              </a:tabLst>
            </a:pPr>
            <a:r>
              <a:rPr b="0" lang="en-NL" sz="3000" spc="-1" strike="noStrike">
                <a:solidFill>
                  <a:srgbClr val="00b7ee"/>
                </a:solidFill>
                <a:latin typeface="Open Sans SemiBold"/>
              </a:rPr>
              <a:t>Wireframe Prototype</a:t>
            </a:r>
            <a:r>
              <a:rPr b="0" lang="en-US" sz="3000" spc="-1" strike="noStrike">
                <a:solidFill>
                  <a:srgbClr val="00b7ee"/>
                </a:solidFill>
                <a:latin typeface="Open Sans SemiBold"/>
              </a:rPr>
              <a:t>:</a:t>
            </a:r>
            <a:endParaRPr b="0" lang="en-US" sz="3000" spc="-1" strike="noStrike">
              <a:latin typeface="Arial"/>
            </a:endParaRPr>
          </a:p>
        </p:txBody>
      </p:sp>
      <p:sp>
        <p:nvSpPr>
          <p:cNvPr id="302" name="PlaceHolder 2"/>
          <p:cNvSpPr>
            <a:spLocks noGrp="1"/>
          </p:cNvSpPr>
          <p:nvPr>
            <p:ph/>
          </p:nvPr>
        </p:nvSpPr>
        <p:spPr>
          <a:xfrm>
            <a:off x="537840" y="1881720"/>
            <a:ext cx="11143800" cy="4081680"/>
          </a:xfrm>
          <a:prstGeom prst="rect">
            <a:avLst/>
          </a:prstGeom>
          <a:noFill/>
          <a:ln w="0">
            <a:noFill/>
          </a:ln>
        </p:spPr>
        <p:txBody>
          <a:bodyPr lIns="90000" rIns="90000" tIns="45000" bIns="45000" anchor="t">
            <a:noAutofit/>
          </a:bodyPr>
          <a:p>
            <a:pPr marL="199080" indent="-199080">
              <a:lnSpc>
                <a:spcPct val="90000"/>
              </a:lnSpc>
              <a:spcBef>
                <a:spcPts val="1001"/>
              </a:spcBef>
              <a:buClr>
                <a:srgbClr val="ee731a"/>
              </a:buClr>
              <a:buFont typeface="Arial"/>
              <a:buChar char="•"/>
            </a:pPr>
            <a:r>
              <a:rPr b="0" lang="en-US" sz="2100" spc="-1" strike="noStrike">
                <a:solidFill>
                  <a:srgbClr val="000000"/>
                </a:solidFill>
                <a:latin typeface="Open Sans"/>
              </a:rPr>
              <a:t>Some demo…</a:t>
            </a:r>
            <a:endParaRPr b="0" lang="en-US" sz="2100" spc="-1" strike="noStrike">
              <a:latin typeface="Arial"/>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This is where you will actually demonstrate your wireframe to the client. You can either open your wireframe, have a link here, a video demo of you using the wireframe; as long as you clearly convey you app design using the wireframe…</a:t>
            </a:r>
            <a:endParaRPr b="0" lang="en-US" sz="2400" spc="-1" strike="noStrike">
              <a:latin typeface="Arial"/>
            </a:endParaRPr>
          </a:p>
          <a:p>
            <a:pPr>
              <a:lnSpc>
                <a:spcPct val="90000"/>
              </a:lnSpc>
              <a:spcBef>
                <a:spcPts val="1001"/>
              </a:spcBef>
              <a:buNone/>
              <a:tabLst>
                <a:tab algn="l" pos="0"/>
              </a:tabLst>
            </a:pPr>
            <a:endParaRPr b="0" lang="en-US" sz="2100" spc="-1" strike="noStrike">
              <a:latin typeface="Arial"/>
            </a:endParaRPr>
          </a:p>
        </p:txBody>
      </p:sp>
      <p:sp>
        <p:nvSpPr>
          <p:cNvPr id="303" name="PlaceHolder 3"/>
          <p:cNvSpPr>
            <a:spLocks noGrp="1"/>
          </p:cNvSpPr>
          <p:nvPr>
            <p:ph type="title"/>
          </p:nvPr>
        </p:nvSpPr>
        <p:spPr>
          <a:xfrm>
            <a:off x="537840" y="412560"/>
            <a:ext cx="11143800" cy="866520"/>
          </a:xfrm>
          <a:prstGeom prst="rect">
            <a:avLst/>
          </a:prstGeom>
          <a:noFill/>
          <a:ln w="0">
            <a:noFill/>
          </a:ln>
        </p:spPr>
        <p:txBody>
          <a:bodyPr lIns="90000" rIns="90000" tIns="45000" bIns="45000" anchor="t">
            <a:noAutofit/>
          </a:bodyPr>
          <a:p>
            <a:pPr>
              <a:lnSpc>
                <a:spcPct val="90000"/>
              </a:lnSpc>
              <a:buNone/>
            </a:pPr>
            <a:r>
              <a:rPr b="0" lang="en-US" sz="4400" spc="-1" strike="noStrike">
                <a:solidFill>
                  <a:srgbClr val="0e3d67"/>
                </a:solidFill>
                <a:latin typeface="Open Sans Semibold"/>
              </a:rPr>
              <a:t>HCAI - </a:t>
            </a:r>
            <a:r>
              <a:rPr b="0" lang="en-NL" sz="4400" spc="-1" strike="noStrike">
                <a:solidFill>
                  <a:srgbClr val="0e3d67"/>
                </a:solidFill>
                <a:latin typeface="Open Sans Semibold"/>
              </a:rPr>
              <a:t>Application Design</a:t>
            </a:r>
            <a:r>
              <a:rPr b="0" lang="en-US" sz="4400" spc="-1" strike="noStrike">
                <a:solidFill>
                  <a:srgbClr val="0e3d67"/>
                </a:solidFill>
                <a:latin typeface="Open Sans Semibold"/>
              </a:rPr>
              <a:t>:</a:t>
            </a:r>
            <a:endParaRPr b="0" lang="en-US" sz="4400" spc="-1" strike="noStrike">
              <a:latin typeface="Arial"/>
            </a:endParaRPr>
          </a:p>
        </p:txBody>
      </p:sp>
      <p:sp>
        <p:nvSpPr>
          <p:cNvPr id="304" name="TextBox 5"/>
          <p:cNvSpPr/>
          <p:nvPr/>
        </p:nvSpPr>
        <p:spPr>
          <a:xfrm>
            <a:off x="1484640" y="6356520"/>
            <a:ext cx="60933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1" lang="en-GB" sz="1800" spc="-1" strike="noStrike">
                <a:solidFill>
                  <a:srgbClr val="000000"/>
                </a:solidFill>
                <a:latin typeface="Open Sans"/>
                <a:ea typeface="Open Sans"/>
              </a:rPr>
              <a:t>ILO Mapping: Poor, Sufficient, Good &amp; Excellent</a:t>
            </a:r>
            <a:endParaRPr b="0" lang="en-US" sz="1800" spc="-1" strike="noStrike">
              <a:latin typeface="Arial"/>
            </a:endParaRPr>
          </a:p>
        </p:txBody>
      </p:sp>
      <p:sp>
        <p:nvSpPr>
          <p:cNvPr id="5" name="PlaceHolder 4"/>
          <p:cNvSpPr>
            <a:spLocks noGrp="1"/>
          </p:cNvSpPr>
          <p:nvPr>
            <p:ph type="sldNum" idx="8"/>
          </p:nvPr>
        </p:nvSpPr>
        <p:spPr/>
        <p:txBody>
          <a:bodyPr/>
          <a:p>
            <a:fld id="{A8357106-E02E-4236-9936-42AC2CB672B2}"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p:nvPr>
        </p:nvSpPr>
        <p:spPr>
          <a:xfrm>
            <a:off x="537840" y="2462760"/>
            <a:ext cx="11144520" cy="773640"/>
          </a:xfrm>
          <a:prstGeom prst="rect">
            <a:avLst/>
          </a:prstGeom>
          <a:noFill/>
          <a:ln w="0">
            <a:noFill/>
          </a:ln>
        </p:spPr>
        <p:txBody>
          <a:bodyPr lIns="90000" rIns="90000" tIns="45000" bIns="45000" anchor="t">
            <a:noAutofit/>
          </a:bodyPr>
          <a:p>
            <a:pPr algn="ctr">
              <a:lnSpc>
                <a:spcPct val="90000"/>
              </a:lnSpc>
              <a:spcBef>
                <a:spcPts val="1001"/>
              </a:spcBef>
              <a:buNone/>
              <a:tabLst>
                <a:tab algn="l" pos="0"/>
              </a:tabLst>
            </a:pPr>
            <a:r>
              <a:rPr b="0" lang="nl-NL" sz="4400" spc="-1" strike="noStrike">
                <a:solidFill>
                  <a:srgbClr val="ffffff"/>
                </a:solidFill>
                <a:latin typeface="Open Sans SemiBold"/>
              </a:rPr>
              <a:t>Thank you!</a:t>
            </a:r>
            <a:endParaRPr b="0" lang="en-US" sz="4400" spc="-1" strike="noStrike">
              <a:latin typeface="Arial"/>
            </a:endParaRPr>
          </a:p>
        </p:txBody>
      </p:sp>
      <p:sp>
        <p:nvSpPr>
          <p:cNvPr id="306" name="PlaceHolder 2"/>
          <p:cNvSpPr>
            <a:spLocks noGrp="1"/>
          </p:cNvSpPr>
          <p:nvPr>
            <p:ph/>
          </p:nvPr>
        </p:nvSpPr>
        <p:spPr>
          <a:xfrm>
            <a:off x="3416040" y="3429000"/>
            <a:ext cx="5388120" cy="2194560"/>
          </a:xfrm>
          <a:prstGeom prst="rect">
            <a:avLst/>
          </a:prstGeom>
          <a:noFill/>
          <a:ln w="0">
            <a:noFill/>
          </a:ln>
        </p:spPr>
        <p:txBody>
          <a:bodyPr lIns="90000" rIns="90000" tIns="45000" bIns="45000" anchor="t">
            <a:noAutofit/>
          </a:bodyPr>
          <a:p>
            <a:pPr algn="ctr">
              <a:lnSpc>
                <a:spcPct val="90000"/>
              </a:lnSpc>
              <a:spcBef>
                <a:spcPts val="1001"/>
              </a:spcBef>
              <a:buNone/>
              <a:tabLst>
                <a:tab algn="l" pos="0"/>
              </a:tabLst>
            </a:pPr>
            <a:r>
              <a:rPr b="0" lang="en-NL" sz="2100" spc="-1" strike="noStrike">
                <a:solidFill>
                  <a:srgbClr val="ffffff"/>
                </a:solidFill>
                <a:latin typeface="Open Sans"/>
              </a:rPr>
              <a:t>Any questions?</a:t>
            </a:r>
            <a:endParaRPr b="0" lang="en-US" sz="2100" spc="-1" strike="noStrike">
              <a:latin typeface="Arial"/>
            </a:endParaRPr>
          </a:p>
        </p:txBody>
      </p:sp>
      <p:sp>
        <p:nvSpPr>
          <p:cNvPr id="4" name="PlaceHolder 3"/>
          <p:cNvSpPr>
            <a:spLocks noGrp="1"/>
          </p:cNvSpPr>
          <p:nvPr>
            <p:ph type="sldNum" idx="14"/>
          </p:nvPr>
        </p:nvSpPr>
        <p:spPr/>
        <p:txBody>
          <a:bodyPr/>
          <a:p>
            <a:fld id="{B39F8B1D-31B0-43DB-8D96-9F9627FA1679}" type="slidenum">
              <a:t>30</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BUas Powerpoint</Template>
  <TotalTime>312</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2022-12-20T17:29:36Z</dcterms:created>
  <dc:creator>Heijligers, Bram</dc:creator>
  <dc:description/>
  <dc:language>en-US</dc:language>
  <cp:lastModifiedBy/>
  <dcterms:modified xsi:type="dcterms:W3CDTF">2023-04-03T16:13:29Z</dcterms:modified>
  <cp:revision>364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0x01010064CD5E63A3821441BBE345F9A9049786</vt:lpwstr>
  </property>
  <property fmtid="{D5CDD505-2E9C-101B-9397-08002B2CF9AE}" pid="3" name="MediaServiceImageTags">
    <vt:lpwstr/>
  </property>
  <property fmtid="{D5CDD505-2E9C-101B-9397-08002B2CF9AE}" pid="4" name="Notes">
    <vt:r8>1</vt:r8>
  </property>
  <property fmtid="{D5CDD505-2E9C-101B-9397-08002B2CF9AE}" pid="5" name="PresentationFormat">
    <vt:lpwstr>Widescreen</vt:lpwstr>
  </property>
  <property fmtid="{D5CDD505-2E9C-101B-9397-08002B2CF9AE}" pid="6" name="Slides">
    <vt:r8>26</vt:r8>
  </property>
</Properties>
</file>